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1"/>
  </p:sldMasterIdLst>
  <p:sldIdLst>
    <p:sldId id="259" r:id="rId2"/>
    <p:sldId id="258" r:id="rId3"/>
    <p:sldId id="260" r:id="rId4"/>
    <p:sldId id="261" r:id="rId5"/>
    <p:sldId id="262" r:id="rId6"/>
    <p:sldId id="263" r:id="rId7"/>
    <p:sldId id="273" r:id="rId8"/>
    <p:sldId id="264" r:id="rId9"/>
    <p:sldId id="274" r:id="rId10"/>
    <p:sldId id="275" r:id="rId11"/>
    <p:sldId id="276" r:id="rId12"/>
    <p:sldId id="265" r:id="rId13"/>
    <p:sldId id="277" r:id="rId14"/>
    <p:sldId id="266" r:id="rId15"/>
    <p:sldId id="267" r:id="rId16"/>
    <p:sldId id="268" r:id="rId17"/>
    <p:sldId id="269" r:id="rId18"/>
    <p:sldId id="270" r:id="rId19"/>
    <p:sldId id="278" r:id="rId20"/>
    <p:sldId id="279" r:id="rId21"/>
    <p:sldId id="271" r:id="rId22"/>
    <p:sldId id="27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A147"/>
    <a:srgbClr val="B54C2D"/>
    <a:srgbClr val="B66952"/>
    <a:srgbClr val="B56D45"/>
    <a:srgbClr val="DF98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A20905-3954-474B-A606-562BCA026DC1}" type="doc">
      <dgm:prSet loTypeId="urn:microsoft.com/office/officeart/2016/7/layout/LinearBlockProcessNumbered" loCatId="process" qsTypeId="urn:microsoft.com/office/officeart/2005/8/quickstyle/simple1" qsCatId="simple" csTypeId="urn:microsoft.com/office/officeart/2005/8/colors/colorful1" csCatId="colorful" phldr="1"/>
      <dgm:spPr/>
      <dgm:t>
        <a:bodyPr/>
        <a:lstStyle/>
        <a:p>
          <a:endParaRPr lang="en-US"/>
        </a:p>
      </dgm:t>
    </dgm:pt>
    <dgm:pt modelId="{DC13AB6D-DEA2-4CBB-AC69-1EF1A6AD1512}">
      <dgm:prSet/>
      <dgm:spPr/>
      <dgm:t>
        <a:bodyPr/>
        <a:lstStyle/>
        <a:p>
          <a:pPr>
            <a:defRPr cap="all"/>
          </a:pPr>
          <a:r>
            <a:rPr lang="en-US" dirty="0"/>
            <a:t>Objective</a:t>
          </a:r>
        </a:p>
        <a:p>
          <a:pPr>
            <a:defRPr cap="all"/>
          </a:pPr>
          <a:r>
            <a:rPr lang="en-US" dirty="0"/>
            <a:t>Applications</a:t>
          </a:r>
        </a:p>
        <a:p>
          <a:pPr>
            <a:defRPr cap="all"/>
          </a:pPr>
          <a:r>
            <a:rPr lang="en-US" dirty="0"/>
            <a:t>Abstract introduction</a:t>
          </a:r>
        </a:p>
        <a:p>
          <a:pPr>
            <a:defRPr cap="all"/>
          </a:pPr>
          <a:r>
            <a:rPr lang="en-US" dirty="0"/>
            <a:t>Literature review</a:t>
          </a:r>
        </a:p>
      </dgm:t>
    </dgm:pt>
    <dgm:pt modelId="{2C752582-D9FF-4E04-A92F-827DB4BB5C48}" type="parTrans" cxnId="{4B888393-351D-4489-90C9-5A68061AB236}">
      <dgm:prSet/>
      <dgm:spPr/>
      <dgm:t>
        <a:bodyPr/>
        <a:lstStyle/>
        <a:p>
          <a:endParaRPr lang="en-US"/>
        </a:p>
      </dgm:t>
    </dgm:pt>
    <dgm:pt modelId="{9C64CC83-643C-4E12-8F97-BC19DC031190}" type="sibTrans" cxnId="{4B888393-351D-4489-90C9-5A68061AB236}">
      <dgm:prSet phldrT="01" phldr="0"/>
      <dgm:spPr/>
      <dgm:t>
        <a:bodyPr/>
        <a:lstStyle/>
        <a:p>
          <a:r>
            <a:rPr lang="en-US"/>
            <a:t>01</a:t>
          </a:r>
          <a:endParaRPr lang="en-US" dirty="0"/>
        </a:p>
      </dgm:t>
    </dgm:pt>
    <dgm:pt modelId="{53742231-981F-480A-940F-203EC2F7423F}">
      <dgm:prSet/>
      <dgm:spPr/>
      <dgm:t>
        <a:bodyPr/>
        <a:lstStyle/>
        <a:p>
          <a:pPr>
            <a:defRPr cap="all"/>
          </a:pPr>
          <a:r>
            <a:rPr lang="en-US" dirty="0"/>
            <a:t>Existing method</a:t>
          </a:r>
        </a:p>
        <a:p>
          <a:pPr>
            <a:defRPr cap="all"/>
          </a:pPr>
          <a:r>
            <a:rPr lang="en-US" dirty="0"/>
            <a:t>Drawbacks</a:t>
          </a:r>
        </a:p>
        <a:p>
          <a:pPr>
            <a:defRPr cap="all"/>
          </a:pPr>
          <a:r>
            <a:rPr lang="en-US" dirty="0"/>
            <a:t>Proposed method </a:t>
          </a:r>
        </a:p>
        <a:p>
          <a:pPr>
            <a:defRPr cap="all"/>
          </a:pPr>
          <a:r>
            <a:rPr lang="en-US" dirty="0"/>
            <a:t>advantages</a:t>
          </a:r>
        </a:p>
      </dgm:t>
    </dgm:pt>
    <dgm:pt modelId="{2FC75195-FBA1-43DE-85DD-40B4B3A2F1F3}" type="parTrans" cxnId="{A5075429-E33F-4B49-B997-080F3247D9B4}">
      <dgm:prSet/>
      <dgm:spPr/>
      <dgm:t>
        <a:bodyPr/>
        <a:lstStyle/>
        <a:p>
          <a:endParaRPr lang="en-US"/>
        </a:p>
      </dgm:t>
    </dgm:pt>
    <dgm:pt modelId="{EF449C32-A7AE-4099-9E9B-9E2F736A89CE}" type="sibTrans" cxnId="{A5075429-E33F-4B49-B997-080F3247D9B4}">
      <dgm:prSet phldrT="02" phldr="0"/>
      <dgm:spPr/>
      <dgm:t>
        <a:bodyPr/>
        <a:lstStyle/>
        <a:p>
          <a:r>
            <a:rPr lang="en-US"/>
            <a:t>02</a:t>
          </a:r>
        </a:p>
      </dgm:t>
    </dgm:pt>
    <dgm:pt modelId="{9EF41CC5-EF3B-4A6D-8229-3F1333EADFB3}">
      <dgm:prSet/>
      <dgm:spPr/>
      <dgm:t>
        <a:bodyPr/>
        <a:lstStyle/>
        <a:p>
          <a:pPr>
            <a:defRPr cap="all"/>
          </a:pPr>
          <a:r>
            <a:rPr lang="en-US" dirty="0"/>
            <a:t>Tools</a:t>
          </a:r>
        </a:p>
        <a:p>
          <a:pPr>
            <a:defRPr cap="all"/>
          </a:pPr>
          <a:r>
            <a:rPr lang="en-US" dirty="0"/>
            <a:t>Results</a:t>
          </a:r>
        </a:p>
        <a:p>
          <a:pPr>
            <a:defRPr cap="all"/>
          </a:pPr>
          <a:r>
            <a:rPr lang="en-US" dirty="0"/>
            <a:t>Conclusion</a:t>
          </a:r>
        </a:p>
        <a:p>
          <a:pPr>
            <a:defRPr cap="all"/>
          </a:pPr>
          <a:r>
            <a:rPr lang="en-US" dirty="0"/>
            <a:t>references</a:t>
          </a:r>
        </a:p>
      </dgm:t>
    </dgm:pt>
    <dgm:pt modelId="{DAEF1C7D-B0C5-46FA-BED3-8A54E918D3E0}" type="parTrans" cxnId="{BF890D94-FD49-430B-A080-E1F2B3F0E31D}">
      <dgm:prSet/>
      <dgm:spPr/>
      <dgm:t>
        <a:bodyPr/>
        <a:lstStyle/>
        <a:p>
          <a:endParaRPr lang="en-US"/>
        </a:p>
      </dgm:t>
    </dgm:pt>
    <dgm:pt modelId="{98E6DD7C-B953-4119-9F64-9914E467ECBF}" type="sibTrans" cxnId="{BF890D94-FD49-430B-A080-E1F2B3F0E31D}">
      <dgm:prSet phldrT="03" phldr="0"/>
      <dgm:spPr/>
      <dgm:t>
        <a:bodyPr/>
        <a:lstStyle/>
        <a:p>
          <a:r>
            <a:rPr lang="en-US"/>
            <a:t>03</a:t>
          </a:r>
        </a:p>
      </dgm:t>
    </dgm:pt>
    <dgm:pt modelId="{579698BD-D232-4926-8D7B-29A69B90858B}" type="pres">
      <dgm:prSet presAssocID="{8AA20905-3954-474B-A606-562BCA026DC1}" presName="Name0" presStyleCnt="0">
        <dgm:presLayoutVars>
          <dgm:animLvl val="lvl"/>
          <dgm:resizeHandles val="exact"/>
        </dgm:presLayoutVars>
      </dgm:prSet>
      <dgm:spPr/>
    </dgm:pt>
    <dgm:pt modelId="{3DD5B223-886E-4FC7-BDA1-ECA869A474EC}" type="pres">
      <dgm:prSet presAssocID="{DC13AB6D-DEA2-4CBB-AC69-1EF1A6AD1512}" presName="compositeNode" presStyleCnt="0">
        <dgm:presLayoutVars>
          <dgm:bulletEnabled val="1"/>
        </dgm:presLayoutVars>
      </dgm:prSet>
      <dgm:spPr/>
    </dgm:pt>
    <dgm:pt modelId="{DA3A6BD4-857F-4C66-97FA-B1E1C180A950}" type="pres">
      <dgm:prSet presAssocID="{DC13AB6D-DEA2-4CBB-AC69-1EF1A6AD1512}" presName="bgRect" presStyleLbl="alignNode1" presStyleIdx="0" presStyleCnt="3"/>
      <dgm:spPr/>
    </dgm:pt>
    <dgm:pt modelId="{BBA91679-4684-4A04-8AEB-03038C78A75C}" type="pres">
      <dgm:prSet presAssocID="{9C64CC83-643C-4E12-8F97-BC19DC031190}" presName="sibTransNodeRect" presStyleLbl="alignNode1" presStyleIdx="0" presStyleCnt="3">
        <dgm:presLayoutVars>
          <dgm:chMax val="0"/>
          <dgm:bulletEnabled val="1"/>
        </dgm:presLayoutVars>
      </dgm:prSet>
      <dgm:spPr/>
    </dgm:pt>
    <dgm:pt modelId="{5F398AEE-BC0F-4F30-99FA-92D67A176C2D}" type="pres">
      <dgm:prSet presAssocID="{DC13AB6D-DEA2-4CBB-AC69-1EF1A6AD1512}" presName="nodeRect" presStyleLbl="alignNode1" presStyleIdx="0" presStyleCnt="3">
        <dgm:presLayoutVars>
          <dgm:bulletEnabled val="1"/>
        </dgm:presLayoutVars>
      </dgm:prSet>
      <dgm:spPr/>
    </dgm:pt>
    <dgm:pt modelId="{3C27A223-AC17-40BD-B7C5-0447661C2934}" type="pres">
      <dgm:prSet presAssocID="{9C64CC83-643C-4E12-8F97-BC19DC031190}" presName="sibTrans" presStyleCnt="0"/>
      <dgm:spPr/>
    </dgm:pt>
    <dgm:pt modelId="{0864151C-845B-4A50-9755-7EE613694D81}" type="pres">
      <dgm:prSet presAssocID="{53742231-981F-480A-940F-203EC2F7423F}" presName="compositeNode" presStyleCnt="0">
        <dgm:presLayoutVars>
          <dgm:bulletEnabled val="1"/>
        </dgm:presLayoutVars>
      </dgm:prSet>
      <dgm:spPr/>
    </dgm:pt>
    <dgm:pt modelId="{00AE7F27-0E5D-4AFB-ACD6-B5A19E79EA42}" type="pres">
      <dgm:prSet presAssocID="{53742231-981F-480A-940F-203EC2F7423F}" presName="bgRect" presStyleLbl="alignNode1" presStyleIdx="1" presStyleCnt="3"/>
      <dgm:spPr/>
    </dgm:pt>
    <dgm:pt modelId="{975C752B-C37A-4BA6-A3AE-2202A141404A}" type="pres">
      <dgm:prSet presAssocID="{EF449C32-A7AE-4099-9E9B-9E2F736A89CE}" presName="sibTransNodeRect" presStyleLbl="alignNode1" presStyleIdx="1" presStyleCnt="3">
        <dgm:presLayoutVars>
          <dgm:chMax val="0"/>
          <dgm:bulletEnabled val="1"/>
        </dgm:presLayoutVars>
      </dgm:prSet>
      <dgm:spPr/>
    </dgm:pt>
    <dgm:pt modelId="{C5BDCA19-B754-421E-A6CC-628F80FC74CB}" type="pres">
      <dgm:prSet presAssocID="{53742231-981F-480A-940F-203EC2F7423F}" presName="nodeRect" presStyleLbl="alignNode1" presStyleIdx="1" presStyleCnt="3">
        <dgm:presLayoutVars>
          <dgm:bulletEnabled val="1"/>
        </dgm:presLayoutVars>
      </dgm:prSet>
      <dgm:spPr/>
    </dgm:pt>
    <dgm:pt modelId="{3E36C1DA-E751-469B-91D5-B7ADF3790DAB}" type="pres">
      <dgm:prSet presAssocID="{EF449C32-A7AE-4099-9E9B-9E2F736A89CE}" presName="sibTrans" presStyleCnt="0"/>
      <dgm:spPr/>
    </dgm:pt>
    <dgm:pt modelId="{19974A3A-09A4-40DE-BB0F-D9AED1ACB06E}" type="pres">
      <dgm:prSet presAssocID="{9EF41CC5-EF3B-4A6D-8229-3F1333EADFB3}" presName="compositeNode" presStyleCnt="0">
        <dgm:presLayoutVars>
          <dgm:bulletEnabled val="1"/>
        </dgm:presLayoutVars>
      </dgm:prSet>
      <dgm:spPr/>
    </dgm:pt>
    <dgm:pt modelId="{CAD62F17-E99D-4FEF-B376-961CA4CB20EB}" type="pres">
      <dgm:prSet presAssocID="{9EF41CC5-EF3B-4A6D-8229-3F1333EADFB3}" presName="bgRect" presStyleLbl="alignNode1" presStyleIdx="2" presStyleCnt="3"/>
      <dgm:spPr/>
    </dgm:pt>
    <dgm:pt modelId="{E20811D6-E5D4-4C9E-AABF-9E0E1902CA2C}" type="pres">
      <dgm:prSet presAssocID="{98E6DD7C-B953-4119-9F64-9914E467ECBF}" presName="sibTransNodeRect" presStyleLbl="alignNode1" presStyleIdx="2" presStyleCnt="3">
        <dgm:presLayoutVars>
          <dgm:chMax val="0"/>
          <dgm:bulletEnabled val="1"/>
        </dgm:presLayoutVars>
      </dgm:prSet>
      <dgm:spPr/>
    </dgm:pt>
    <dgm:pt modelId="{67D48337-9200-42EF-A956-8FC92E9B78D2}" type="pres">
      <dgm:prSet presAssocID="{9EF41CC5-EF3B-4A6D-8229-3F1333EADFB3}" presName="nodeRect" presStyleLbl="alignNode1" presStyleIdx="2" presStyleCnt="3">
        <dgm:presLayoutVars>
          <dgm:bulletEnabled val="1"/>
        </dgm:presLayoutVars>
      </dgm:prSet>
      <dgm:spPr/>
    </dgm:pt>
  </dgm:ptLst>
  <dgm:cxnLst>
    <dgm:cxn modelId="{A5075429-E33F-4B49-B997-080F3247D9B4}" srcId="{8AA20905-3954-474B-A606-562BCA026DC1}" destId="{53742231-981F-480A-940F-203EC2F7423F}" srcOrd="1" destOrd="0" parTransId="{2FC75195-FBA1-43DE-85DD-40B4B3A2F1F3}" sibTransId="{EF449C32-A7AE-4099-9E9B-9E2F736A89CE}"/>
    <dgm:cxn modelId="{C3FFA841-793B-442B-B83D-7313467D1BAE}" type="presOf" srcId="{53742231-981F-480A-940F-203EC2F7423F}" destId="{00AE7F27-0E5D-4AFB-ACD6-B5A19E79EA42}" srcOrd="0" destOrd="0" presId="urn:microsoft.com/office/officeart/2016/7/layout/LinearBlockProcessNumbered"/>
    <dgm:cxn modelId="{91F2FA6A-80CC-4DDC-ABDF-5306E7F6FED7}" type="presOf" srcId="{53742231-981F-480A-940F-203EC2F7423F}" destId="{C5BDCA19-B754-421E-A6CC-628F80FC74CB}" srcOrd="1" destOrd="0" presId="urn:microsoft.com/office/officeart/2016/7/layout/LinearBlockProcessNumbered"/>
    <dgm:cxn modelId="{0439566F-A180-439C-8FAE-14E400EF2DCF}" type="presOf" srcId="{8AA20905-3954-474B-A606-562BCA026DC1}" destId="{579698BD-D232-4926-8D7B-29A69B90858B}" srcOrd="0" destOrd="0" presId="urn:microsoft.com/office/officeart/2016/7/layout/LinearBlockProcessNumbered"/>
    <dgm:cxn modelId="{F6B1598F-1951-460F-BB68-54B32A798437}" type="presOf" srcId="{DC13AB6D-DEA2-4CBB-AC69-1EF1A6AD1512}" destId="{5F398AEE-BC0F-4F30-99FA-92D67A176C2D}" srcOrd="1" destOrd="0" presId="urn:microsoft.com/office/officeart/2016/7/layout/LinearBlockProcessNumbered"/>
    <dgm:cxn modelId="{4B888393-351D-4489-90C9-5A68061AB236}" srcId="{8AA20905-3954-474B-A606-562BCA026DC1}" destId="{DC13AB6D-DEA2-4CBB-AC69-1EF1A6AD1512}" srcOrd="0" destOrd="0" parTransId="{2C752582-D9FF-4E04-A92F-827DB4BB5C48}" sibTransId="{9C64CC83-643C-4E12-8F97-BC19DC031190}"/>
    <dgm:cxn modelId="{BF890D94-FD49-430B-A080-E1F2B3F0E31D}" srcId="{8AA20905-3954-474B-A606-562BCA026DC1}" destId="{9EF41CC5-EF3B-4A6D-8229-3F1333EADFB3}" srcOrd="2" destOrd="0" parTransId="{DAEF1C7D-B0C5-46FA-BED3-8A54E918D3E0}" sibTransId="{98E6DD7C-B953-4119-9F64-9914E467ECBF}"/>
    <dgm:cxn modelId="{BA068B95-2DA2-453B-8162-90B6AB26C20F}" type="presOf" srcId="{DC13AB6D-DEA2-4CBB-AC69-1EF1A6AD1512}" destId="{DA3A6BD4-857F-4C66-97FA-B1E1C180A950}" srcOrd="0" destOrd="0" presId="urn:microsoft.com/office/officeart/2016/7/layout/LinearBlockProcessNumbered"/>
    <dgm:cxn modelId="{57AFE8A2-9D25-4676-BB53-602DD52ED428}" type="presOf" srcId="{EF449C32-A7AE-4099-9E9B-9E2F736A89CE}" destId="{975C752B-C37A-4BA6-A3AE-2202A141404A}" srcOrd="0" destOrd="0" presId="urn:microsoft.com/office/officeart/2016/7/layout/LinearBlockProcessNumbered"/>
    <dgm:cxn modelId="{90D453AD-E162-40F5-880D-6A5380677BF3}" type="presOf" srcId="{9EF41CC5-EF3B-4A6D-8229-3F1333EADFB3}" destId="{CAD62F17-E99D-4FEF-B376-961CA4CB20EB}" srcOrd="0" destOrd="0" presId="urn:microsoft.com/office/officeart/2016/7/layout/LinearBlockProcessNumbered"/>
    <dgm:cxn modelId="{DCFE86BD-BBC0-4E5A-B10B-6ACF8A3CB453}" type="presOf" srcId="{98E6DD7C-B953-4119-9F64-9914E467ECBF}" destId="{E20811D6-E5D4-4C9E-AABF-9E0E1902CA2C}" srcOrd="0" destOrd="0" presId="urn:microsoft.com/office/officeart/2016/7/layout/LinearBlockProcessNumbered"/>
    <dgm:cxn modelId="{714928C7-F07E-48C4-BE9E-4842896AB09C}" type="presOf" srcId="{9C64CC83-643C-4E12-8F97-BC19DC031190}" destId="{BBA91679-4684-4A04-8AEB-03038C78A75C}" srcOrd="0" destOrd="0" presId="urn:microsoft.com/office/officeart/2016/7/layout/LinearBlockProcessNumbered"/>
    <dgm:cxn modelId="{F5E55BCE-EDED-48AC-BEFB-CB0169A9BC6B}" type="presOf" srcId="{9EF41CC5-EF3B-4A6D-8229-3F1333EADFB3}" destId="{67D48337-9200-42EF-A956-8FC92E9B78D2}" srcOrd="1" destOrd="0" presId="urn:microsoft.com/office/officeart/2016/7/layout/LinearBlockProcessNumbered"/>
    <dgm:cxn modelId="{6A5BED3A-71F8-4A71-9E51-1F50D58497B5}" type="presParOf" srcId="{579698BD-D232-4926-8D7B-29A69B90858B}" destId="{3DD5B223-886E-4FC7-BDA1-ECA869A474EC}" srcOrd="0" destOrd="0" presId="urn:microsoft.com/office/officeart/2016/7/layout/LinearBlockProcessNumbered"/>
    <dgm:cxn modelId="{50ED9B3F-B939-4662-8866-7D833C2E0794}" type="presParOf" srcId="{3DD5B223-886E-4FC7-BDA1-ECA869A474EC}" destId="{DA3A6BD4-857F-4C66-97FA-B1E1C180A950}" srcOrd="0" destOrd="0" presId="urn:microsoft.com/office/officeart/2016/7/layout/LinearBlockProcessNumbered"/>
    <dgm:cxn modelId="{0D013F25-1B82-4F7B-AEF4-E93C2E95B0C3}" type="presParOf" srcId="{3DD5B223-886E-4FC7-BDA1-ECA869A474EC}" destId="{BBA91679-4684-4A04-8AEB-03038C78A75C}" srcOrd="1" destOrd="0" presId="urn:microsoft.com/office/officeart/2016/7/layout/LinearBlockProcessNumbered"/>
    <dgm:cxn modelId="{1E713196-E09A-42B0-BC2D-5294D0D9C36F}" type="presParOf" srcId="{3DD5B223-886E-4FC7-BDA1-ECA869A474EC}" destId="{5F398AEE-BC0F-4F30-99FA-92D67A176C2D}" srcOrd="2" destOrd="0" presId="urn:microsoft.com/office/officeart/2016/7/layout/LinearBlockProcessNumbered"/>
    <dgm:cxn modelId="{2850738D-9193-4B51-B662-87E00383D9AC}" type="presParOf" srcId="{579698BD-D232-4926-8D7B-29A69B90858B}" destId="{3C27A223-AC17-40BD-B7C5-0447661C2934}" srcOrd="1" destOrd="0" presId="urn:microsoft.com/office/officeart/2016/7/layout/LinearBlockProcessNumbered"/>
    <dgm:cxn modelId="{0A263129-1B03-4EE4-94F1-A140385CD062}" type="presParOf" srcId="{579698BD-D232-4926-8D7B-29A69B90858B}" destId="{0864151C-845B-4A50-9755-7EE613694D81}" srcOrd="2" destOrd="0" presId="urn:microsoft.com/office/officeart/2016/7/layout/LinearBlockProcessNumbered"/>
    <dgm:cxn modelId="{7B311B97-6D5E-4B8B-B412-E68FF5306FA1}" type="presParOf" srcId="{0864151C-845B-4A50-9755-7EE613694D81}" destId="{00AE7F27-0E5D-4AFB-ACD6-B5A19E79EA42}" srcOrd="0" destOrd="0" presId="urn:microsoft.com/office/officeart/2016/7/layout/LinearBlockProcessNumbered"/>
    <dgm:cxn modelId="{E52D3C1F-3DE3-45C5-AB87-B26624AE3A2F}" type="presParOf" srcId="{0864151C-845B-4A50-9755-7EE613694D81}" destId="{975C752B-C37A-4BA6-A3AE-2202A141404A}" srcOrd="1" destOrd="0" presId="urn:microsoft.com/office/officeart/2016/7/layout/LinearBlockProcessNumbered"/>
    <dgm:cxn modelId="{E967305B-B716-49C6-9CAC-D020FAEFB44B}" type="presParOf" srcId="{0864151C-845B-4A50-9755-7EE613694D81}" destId="{C5BDCA19-B754-421E-A6CC-628F80FC74CB}" srcOrd="2" destOrd="0" presId="urn:microsoft.com/office/officeart/2016/7/layout/LinearBlockProcessNumbered"/>
    <dgm:cxn modelId="{320F8BDE-09F8-42CC-AECF-D1A8E0537CEC}" type="presParOf" srcId="{579698BD-D232-4926-8D7B-29A69B90858B}" destId="{3E36C1DA-E751-469B-91D5-B7ADF3790DAB}" srcOrd="3" destOrd="0" presId="urn:microsoft.com/office/officeart/2016/7/layout/LinearBlockProcessNumbered"/>
    <dgm:cxn modelId="{FCA8A19E-CF85-4C4E-9A69-B3759CA01B6D}" type="presParOf" srcId="{579698BD-D232-4926-8D7B-29A69B90858B}" destId="{19974A3A-09A4-40DE-BB0F-D9AED1ACB06E}" srcOrd="4" destOrd="0" presId="urn:microsoft.com/office/officeart/2016/7/layout/LinearBlockProcessNumbered"/>
    <dgm:cxn modelId="{96D9B4E3-E934-4C7E-9DCC-BCADA1240AA4}" type="presParOf" srcId="{19974A3A-09A4-40DE-BB0F-D9AED1ACB06E}" destId="{CAD62F17-E99D-4FEF-B376-961CA4CB20EB}" srcOrd="0" destOrd="0" presId="urn:microsoft.com/office/officeart/2016/7/layout/LinearBlockProcessNumbered"/>
    <dgm:cxn modelId="{6CD8C490-4DB8-417C-8D9D-9D06A4725C20}" type="presParOf" srcId="{19974A3A-09A4-40DE-BB0F-D9AED1ACB06E}" destId="{E20811D6-E5D4-4C9E-AABF-9E0E1902CA2C}" srcOrd="1" destOrd="0" presId="urn:microsoft.com/office/officeart/2016/7/layout/LinearBlockProcessNumbered"/>
    <dgm:cxn modelId="{42E7EAF8-081A-46E9-BA56-217B37B9FD76}" type="presParOf" srcId="{19974A3A-09A4-40DE-BB0F-D9AED1ACB06E}" destId="{67D48337-9200-42EF-A956-8FC92E9B78D2}"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3A6BD4-857F-4C66-97FA-B1E1C180A950}">
      <dsp:nvSpPr>
        <dsp:cNvPr id="0" name=""/>
        <dsp:cNvSpPr/>
      </dsp:nvSpPr>
      <dsp:spPr>
        <a:xfrm>
          <a:off x="808" y="0"/>
          <a:ext cx="3275967" cy="3714750"/>
        </a:xfrm>
        <a:prstGeom prst="rect">
          <a:avLst/>
        </a:prstGeom>
        <a:solidFill>
          <a:schemeClr val="accent2">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593" tIns="0" rIns="323593" bIns="330200" numCol="1" spcCol="1270" anchor="t" anchorCtr="0">
          <a:noAutofit/>
        </a:bodyPr>
        <a:lstStyle/>
        <a:p>
          <a:pPr marL="0" lvl="0" indent="0" algn="l" defTabSz="889000">
            <a:lnSpc>
              <a:spcPct val="90000"/>
            </a:lnSpc>
            <a:spcBef>
              <a:spcPct val="0"/>
            </a:spcBef>
            <a:spcAft>
              <a:spcPct val="35000"/>
            </a:spcAft>
            <a:buNone/>
            <a:defRPr cap="all"/>
          </a:pPr>
          <a:r>
            <a:rPr lang="en-US" sz="2000" kern="1200" dirty="0"/>
            <a:t>Objective</a:t>
          </a:r>
        </a:p>
        <a:p>
          <a:pPr marL="0" lvl="0" indent="0" algn="l" defTabSz="889000">
            <a:lnSpc>
              <a:spcPct val="90000"/>
            </a:lnSpc>
            <a:spcBef>
              <a:spcPct val="0"/>
            </a:spcBef>
            <a:spcAft>
              <a:spcPct val="35000"/>
            </a:spcAft>
            <a:buNone/>
            <a:defRPr cap="all"/>
          </a:pPr>
          <a:r>
            <a:rPr lang="en-US" sz="2000" kern="1200" dirty="0"/>
            <a:t>Applications</a:t>
          </a:r>
        </a:p>
        <a:p>
          <a:pPr marL="0" lvl="0" indent="0" algn="l" defTabSz="889000">
            <a:lnSpc>
              <a:spcPct val="90000"/>
            </a:lnSpc>
            <a:spcBef>
              <a:spcPct val="0"/>
            </a:spcBef>
            <a:spcAft>
              <a:spcPct val="35000"/>
            </a:spcAft>
            <a:buNone/>
            <a:defRPr cap="all"/>
          </a:pPr>
          <a:r>
            <a:rPr lang="en-US" sz="2000" kern="1200" dirty="0"/>
            <a:t>Abstract introduction</a:t>
          </a:r>
        </a:p>
        <a:p>
          <a:pPr marL="0" lvl="0" indent="0" algn="l" defTabSz="889000">
            <a:lnSpc>
              <a:spcPct val="90000"/>
            </a:lnSpc>
            <a:spcBef>
              <a:spcPct val="0"/>
            </a:spcBef>
            <a:spcAft>
              <a:spcPct val="35000"/>
            </a:spcAft>
            <a:buNone/>
            <a:defRPr cap="all"/>
          </a:pPr>
          <a:r>
            <a:rPr lang="en-US" sz="2000" kern="1200" dirty="0"/>
            <a:t>Literature review</a:t>
          </a:r>
        </a:p>
      </dsp:txBody>
      <dsp:txXfrm>
        <a:off x="808" y="1485900"/>
        <a:ext cx="3275967" cy="2228850"/>
      </dsp:txXfrm>
    </dsp:sp>
    <dsp:sp modelId="{BBA91679-4684-4A04-8AEB-03038C78A75C}">
      <dsp:nvSpPr>
        <dsp:cNvPr id="0" name=""/>
        <dsp:cNvSpPr/>
      </dsp:nvSpPr>
      <dsp:spPr>
        <a:xfrm>
          <a:off x="808" y="0"/>
          <a:ext cx="3275967" cy="1485900"/>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3593" tIns="165100" rIns="323593"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endParaRPr lang="en-US" sz="6600" kern="1200" dirty="0"/>
        </a:p>
      </dsp:txBody>
      <dsp:txXfrm>
        <a:off x="808" y="0"/>
        <a:ext cx="3275967" cy="1485900"/>
      </dsp:txXfrm>
    </dsp:sp>
    <dsp:sp modelId="{00AE7F27-0E5D-4AFB-ACD6-B5A19E79EA42}">
      <dsp:nvSpPr>
        <dsp:cNvPr id="0" name=""/>
        <dsp:cNvSpPr/>
      </dsp:nvSpPr>
      <dsp:spPr>
        <a:xfrm>
          <a:off x="3538853" y="0"/>
          <a:ext cx="3275967" cy="3714750"/>
        </a:xfrm>
        <a:prstGeom prst="rect">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593" tIns="0" rIns="323593" bIns="330200" numCol="1" spcCol="1270" anchor="t" anchorCtr="0">
          <a:noAutofit/>
        </a:bodyPr>
        <a:lstStyle/>
        <a:p>
          <a:pPr marL="0" lvl="0" indent="0" algn="l" defTabSz="889000">
            <a:lnSpc>
              <a:spcPct val="90000"/>
            </a:lnSpc>
            <a:spcBef>
              <a:spcPct val="0"/>
            </a:spcBef>
            <a:spcAft>
              <a:spcPct val="35000"/>
            </a:spcAft>
            <a:buNone/>
            <a:defRPr cap="all"/>
          </a:pPr>
          <a:r>
            <a:rPr lang="en-US" sz="2000" kern="1200" dirty="0"/>
            <a:t>Existing method</a:t>
          </a:r>
        </a:p>
        <a:p>
          <a:pPr marL="0" lvl="0" indent="0" algn="l" defTabSz="889000">
            <a:lnSpc>
              <a:spcPct val="90000"/>
            </a:lnSpc>
            <a:spcBef>
              <a:spcPct val="0"/>
            </a:spcBef>
            <a:spcAft>
              <a:spcPct val="35000"/>
            </a:spcAft>
            <a:buNone/>
            <a:defRPr cap="all"/>
          </a:pPr>
          <a:r>
            <a:rPr lang="en-US" sz="2000" kern="1200" dirty="0"/>
            <a:t>Drawbacks</a:t>
          </a:r>
        </a:p>
        <a:p>
          <a:pPr marL="0" lvl="0" indent="0" algn="l" defTabSz="889000">
            <a:lnSpc>
              <a:spcPct val="90000"/>
            </a:lnSpc>
            <a:spcBef>
              <a:spcPct val="0"/>
            </a:spcBef>
            <a:spcAft>
              <a:spcPct val="35000"/>
            </a:spcAft>
            <a:buNone/>
            <a:defRPr cap="all"/>
          </a:pPr>
          <a:r>
            <a:rPr lang="en-US" sz="2000" kern="1200" dirty="0"/>
            <a:t>Proposed method </a:t>
          </a:r>
        </a:p>
        <a:p>
          <a:pPr marL="0" lvl="0" indent="0" algn="l" defTabSz="889000">
            <a:lnSpc>
              <a:spcPct val="90000"/>
            </a:lnSpc>
            <a:spcBef>
              <a:spcPct val="0"/>
            </a:spcBef>
            <a:spcAft>
              <a:spcPct val="35000"/>
            </a:spcAft>
            <a:buNone/>
            <a:defRPr cap="all"/>
          </a:pPr>
          <a:r>
            <a:rPr lang="en-US" sz="2000" kern="1200" dirty="0"/>
            <a:t>advantages</a:t>
          </a:r>
        </a:p>
      </dsp:txBody>
      <dsp:txXfrm>
        <a:off x="3538853" y="1485900"/>
        <a:ext cx="3275967" cy="2228850"/>
      </dsp:txXfrm>
    </dsp:sp>
    <dsp:sp modelId="{975C752B-C37A-4BA6-A3AE-2202A141404A}">
      <dsp:nvSpPr>
        <dsp:cNvPr id="0" name=""/>
        <dsp:cNvSpPr/>
      </dsp:nvSpPr>
      <dsp:spPr>
        <a:xfrm>
          <a:off x="3538853" y="0"/>
          <a:ext cx="3275967" cy="1485900"/>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3593" tIns="165100" rIns="323593"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538853" y="0"/>
        <a:ext cx="3275967" cy="1485900"/>
      </dsp:txXfrm>
    </dsp:sp>
    <dsp:sp modelId="{CAD62F17-E99D-4FEF-B376-961CA4CB20EB}">
      <dsp:nvSpPr>
        <dsp:cNvPr id="0" name=""/>
        <dsp:cNvSpPr/>
      </dsp:nvSpPr>
      <dsp:spPr>
        <a:xfrm>
          <a:off x="7076898" y="0"/>
          <a:ext cx="3275967" cy="3714750"/>
        </a:xfrm>
        <a:prstGeom prst="rect">
          <a:avLst/>
        </a:prstGeom>
        <a:solidFill>
          <a:schemeClr val="accent4">
            <a:hueOff val="0"/>
            <a:satOff val="0"/>
            <a:lumOff val="0"/>
            <a:alphaOff val="0"/>
          </a:schemeClr>
        </a:solidFill>
        <a:ln w="1587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593" tIns="0" rIns="323593" bIns="330200" numCol="1" spcCol="1270" anchor="t" anchorCtr="0">
          <a:noAutofit/>
        </a:bodyPr>
        <a:lstStyle/>
        <a:p>
          <a:pPr marL="0" lvl="0" indent="0" algn="l" defTabSz="889000">
            <a:lnSpc>
              <a:spcPct val="90000"/>
            </a:lnSpc>
            <a:spcBef>
              <a:spcPct val="0"/>
            </a:spcBef>
            <a:spcAft>
              <a:spcPct val="35000"/>
            </a:spcAft>
            <a:buNone/>
            <a:defRPr cap="all"/>
          </a:pPr>
          <a:r>
            <a:rPr lang="en-US" sz="2000" kern="1200" dirty="0"/>
            <a:t>Tools</a:t>
          </a:r>
        </a:p>
        <a:p>
          <a:pPr marL="0" lvl="0" indent="0" algn="l" defTabSz="889000">
            <a:lnSpc>
              <a:spcPct val="90000"/>
            </a:lnSpc>
            <a:spcBef>
              <a:spcPct val="0"/>
            </a:spcBef>
            <a:spcAft>
              <a:spcPct val="35000"/>
            </a:spcAft>
            <a:buNone/>
            <a:defRPr cap="all"/>
          </a:pPr>
          <a:r>
            <a:rPr lang="en-US" sz="2000" kern="1200" dirty="0"/>
            <a:t>Results</a:t>
          </a:r>
        </a:p>
        <a:p>
          <a:pPr marL="0" lvl="0" indent="0" algn="l" defTabSz="889000">
            <a:lnSpc>
              <a:spcPct val="90000"/>
            </a:lnSpc>
            <a:spcBef>
              <a:spcPct val="0"/>
            </a:spcBef>
            <a:spcAft>
              <a:spcPct val="35000"/>
            </a:spcAft>
            <a:buNone/>
            <a:defRPr cap="all"/>
          </a:pPr>
          <a:r>
            <a:rPr lang="en-US" sz="2000" kern="1200" dirty="0"/>
            <a:t>Conclusion</a:t>
          </a:r>
        </a:p>
        <a:p>
          <a:pPr marL="0" lvl="0" indent="0" algn="l" defTabSz="889000">
            <a:lnSpc>
              <a:spcPct val="90000"/>
            </a:lnSpc>
            <a:spcBef>
              <a:spcPct val="0"/>
            </a:spcBef>
            <a:spcAft>
              <a:spcPct val="35000"/>
            </a:spcAft>
            <a:buNone/>
            <a:defRPr cap="all"/>
          </a:pPr>
          <a:r>
            <a:rPr lang="en-US" sz="2000" kern="1200" dirty="0"/>
            <a:t>references</a:t>
          </a:r>
        </a:p>
      </dsp:txBody>
      <dsp:txXfrm>
        <a:off x="7076898" y="1485900"/>
        <a:ext cx="3275967" cy="2228850"/>
      </dsp:txXfrm>
    </dsp:sp>
    <dsp:sp modelId="{E20811D6-E5D4-4C9E-AABF-9E0E1902CA2C}">
      <dsp:nvSpPr>
        <dsp:cNvPr id="0" name=""/>
        <dsp:cNvSpPr/>
      </dsp:nvSpPr>
      <dsp:spPr>
        <a:xfrm>
          <a:off x="7076898" y="0"/>
          <a:ext cx="3275967" cy="1485900"/>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3593" tIns="165100" rIns="323593"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7076898" y="0"/>
        <a:ext cx="3275967" cy="1485900"/>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4/18/2026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852525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4/18/2026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85865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4/18/2026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26486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4/18/2026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75175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4/18/2026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08887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4/18/2026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64888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4/18/2026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5916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4/18/2026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596479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4/18/2026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26378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4/18/2026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14665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4/18/2026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12055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4/18/2026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4805943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4/18/2026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88362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4/18/2026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874069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4/18/2026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623026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E833E-1B6D-415F-AD29-75AE8C43BD0D}" type="datetime1">
              <a:rPr lang="en-US" smtClean="0"/>
              <a:t>4/18/2026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941586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2596F-08A7-4B70-989A-F2B1CF31E66B}" type="datetime1">
              <a:rPr lang="en-US" smtClean="0"/>
              <a:t>4/18/2026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34527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4/18/2026</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069802776"/>
      </p:ext>
    </p:extLst>
  </p:cSld>
  <p:clrMap bg1="dk1" tx1="lt1" bg2="dk2" tx2="lt2" accent1="accent1" accent2="accent2" accent3="accent3" accent4="accent4" accent5="accent5" accent6="accent6" hlink="hlink" folHlink="folHlink"/>
  <p:sldLayoutIdLst>
    <p:sldLayoutId id="2147483713" r:id="rId1"/>
    <p:sldLayoutId id="2147483715" r:id="rId2"/>
    <p:sldLayoutId id="2147483716" r:id="rId3"/>
    <p:sldLayoutId id="2147483714" r:id="rId4"/>
    <p:sldLayoutId id="2147483710" r:id="rId5"/>
    <p:sldLayoutId id="2147483694" r:id="rId6"/>
    <p:sldLayoutId id="2147483695" r:id="rId7"/>
    <p:sldLayoutId id="2147483696" r:id="rId8"/>
    <p:sldLayoutId id="2147483697" r:id="rId9"/>
    <p:sldLayoutId id="2147483699" r:id="rId10"/>
    <p:sldLayoutId id="2147483693" r:id="rId11"/>
    <p:sldLayoutId id="2147483700" r:id="rId12"/>
    <p:sldLayoutId id="2147483701" r:id="rId13"/>
    <p:sldLayoutId id="2147483703" r:id="rId14"/>
    <p:sldLayoutId id="2147483704" r:id="rId15"/>
    <p:sldLayoutId id="2147483702" r:id="rId16"/>
    <p:sldLayoutId id="2147483698" r:id="rId17"/>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5" name="Picture 4" descr="A picture containing cup, coffee, food, beverage&#10;&#10;Description automatically generated">
            <a:extLst>
              <a:ext uri="{FF2B5EF4-FFF2-40B4-BE49-F238E27FC236}">
                <a16:creationId xmlns:a16="http://schemas.microsoft.com/office/drawing/2014/main" id="{91BC5572-FC33-4C1C-8DEE-C2CF75A75641}"/>
              </a:ext>
            </a:extLst>
          </p:cNvPr>
          <p:cNvPicPr>
            <a:picLocks noChangeAspect="1"/>
          </p:cNvPicPr>
          <p:nvPr/>
        </p:nvPicPr>
        <p:blipFill rotWithShape="1">
          <a:blip r:embed="rId3">
            <a:alphaModFix amt="35000"/>
            <a:extLst>
              <a:ext uri="{28A0092B-C50C-407E-A947-70E740481C1C}">
                <a14:useLocalDpi xmlns:a14="http://schemas.microsoft.com/office/drawing/2010/main" val="0"/>
              </a:ext>
            </a:extLst>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808383" y="1470991"/>
            <a:ext cx="10007634" cy="3708997"/>
          </a:xfrm>
        </p:spPr>
        <p:txBody>
          <a:bodyPr>
            <a:normAutofit fontScale="90000"/>
          </a:bodyPr>
          <a:lstStyle/>
          <a:p>
            <a:r>
              <a:rPr lang="en-US" b="1" dirty="0">
                <a:effectLst/>
              </a:rPr>
              <a:t> </a:t>
            </a:r>
            <a:br>
              <a:rPr lang="en-IN" dirty="0">
                <a:effectLst/>
              </a:rPr>
            </a:br>
            <a:r>
              <a:rPr lang="en-US" b="1" dirty="0">
                <a:effectLst/>
              </a:rPr>
              <a:t>DESIGN AND IMPLEMENTATION OF APPROXIMATE ADDER FOR ERROR TOLERANT APPLICATIONS</a:t>
            </a:r>
            <a:endParaRPr lang="en-IN" dirty="0">
              <a:effectLst/>
            </a:endParaRPr>
          </a:p>
        </p:txBody>
      </p:sp>
    </p:spTree>
    <p:extLst>
      <p:ext uri="{BB962C8B-B14F-4D97-AF65-F5344CB8AC3E}">
        <p14:creationId xmlns:p14="http://schemas.microsoft.com/office/powerpoint/2010/main" val="633738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A748D-BEEC-43A4-BFF3-B31C0275A5D9}"/>
              </a:ext>
            </a:extLst>
          </p:cNvPr>
          <p:cNvSpPr>
            <a:spLocks noGrp="1"/>
          </p:cNvSpPr>
          <p:nvPr>
            <p:ph type="title"/>
          </p:nvPr>
        </p:nvSpPr>
        <p:spPr>
          <a:xfrm>
            <a:off x="913795" y="609600"/>
            <a:ext cx="10353762" cy="1257300"/>
          </a:xfrm>
        </p:spPr>
        <p:txBody>
          <a:bodyPr>
            <a:normAutofit/>
          </a:bodyPr>
          <a:lstStyle/>
          <a:p>
            <a:r>
              <a:rPr lang="en-US" dirty="0"/>
              <a:t>Contents</a:t>
            </a:r>
          </a:p>
        </p:txBody>
      </p:sp>
      <p:graphicFrame>
        <p:nvGraphicFramePr>
          <p:cNvPr id="4" name="Content Placeholder 2">
            <a:extLst>
              <a:ext uri="{FF2B5EF4-FFF2-40B4-BE49-F238E27FC236}">
                <a16:creationId xmlns:a16="http://schemas.microsoft.com/office/drawing/2014/main" id="{AED04DAF-1E3F-4397-8834-E64118E9B2CD}"/>
              </a:ext>
            </a:extLst>
          </p:cNvPr>
          <p:cNvGraphicFramePr>
            <a:graphicFrameLocks noGrp="1"/>
          </p:cNvGraphicFramePr>
          <p:nvPr>
            <p:ph idx="1"/>
            <p:extLst>
              <p:ext uri="{D42A27DB-BD31-4B8C-83A1-F6EECF244321}">
                <p14:modId xmlns:p14="http://schemas.microsoft.com/office/powerpoint/2010/main" val="3034172868"/>
              </p:ext>
            </p:extLst>
          </p:nvPr>
        </p:nvGraphicFramePr>
        <p:xfrm>
          <a:off x="914400" y="2076450"/>
          <a:ext cx="10353675" cy="37147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890897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399FD-1403-4B93-59C1-CB44733AE776}"/>
              </a:ext>
            </a:extLst>
          </p:cNvPr>
          <p:cNvSpPr>
            <a:spLocks noGrp="1"/>
          </p:cNvSpPr>
          <p:nvPr>
            <p:ph type="title"/>
          </p:nvPr>
        </p:nvSpPr>
        <p:spPr/>
        <p:txBody>
          <a:bodyPr>
            <a:normAutofit fontScale="90000"/>
          </a:bodyPr>
          <a:lstStyle/>
          <a:p>
            <a:pPr lvl="0">
              <a:defRPr cap="all"/>
            </a:pPr>
            <a:r>
              <a:rPr lang="en-US" dirty="0"/>
              <a:t>Objective</a:t>
            </a:r>
            <a:br>
              <a:rPr lang="en-US" dirty="0"/>
            </a:br>
            <a:br>
              <a:rPr lang="en-US" dirty="0"/>
            </a:br>
            <a:endParaRPr lang="en-IN" dirty="0"/>
          </a:p>
        </p:txBody>
      </p:sp>
      <p:sp>
        <p:nvSpPr>
          <p:cNvPr id="3" name="Content Placeholder 2">
            <a:extLst>
              <a:ext uri="{FF2B5EF4-FFF2-40B4-BE49-F238E27FC236}">
                <a16:creationId xmlns:a16="http://schemas.microsoft.com/office/drawing/2014/main" id="{C5E63A17-2EF9-BD11-8E51-B24F8DF50CFB}"/>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3827066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2D890-BB24-59F6-FD65-F1DB0DAE9DD2}"/>
              </a:ext>
            </a:extLst>
          </p:cNvPr>
          <p:cNvSpPr>
            <a:spLocks noGrp="1"/>
          </p:cNvSpPr>
          <p:nvPr>
            <p:ph type="title"/>
          </p:nvPr>
        </p:nvSpPr>
        <p:spPr/>
        <p:txBody>
          <a:bodyPr>
            <a:normAutofit fontScale="90000"/>
          </a:bodyPr>
          <a:lstStyle/>
          <a:p>
            <a:r>
              <a:rPr lang="en-US" dirty="0"/>
              <a:t>Applications</a:t>
            </a:r>
            <a:br>
              <a:rPr lang="en-US" dirty="0"/>
            </a:br>
            <a:endParaRPr lang="en-IN" dirty="0"/>
          </a:p>
        </p:txBody>
      </p:sp>
      <p:sp>
        <p:nvSpPr>
          <p:cNvPr id="3" name="Content Placeholder 2">
            <a:extLst>
              <a:ext uri="{FF2B5EF4-FFF2-40B4-BE49-F238E27FC236}">
                <a16:creationId xmlns:a16="http://schemas.microsoft.com/office/drawing/2014/main" id="{BDCC1D3C-70B5-B5DF-246B-A9E8C73E6B22}"/>
              </a:ext>
            </a:extLst>
          </p:cNvPr>
          <p:cNvSpPr>
            <a:spLocks noGrp="1"/>
          </p:cNvSpPr>
          <p:nvPr>
            <p:ph idx="1"/>
          </p:nvPr>
        </p:nvSpPr>
        <p:spPr/>
        <p:txBody>
          <a:bodyPr>
            <a:normAutofit/>
          </a:bodyPr>
          <a:lstStyle/>
          <a:p>
            <a:r>
              <a:rPr lang="en-IN" dirty="0">
                <a:effectLst/>
              </a:rPr>
              <a:t>  </a:t>
            </a:r>
            <a:r>
              <a:rPr lang="en-IN" b="1" dirty="0">
                <a:effectLst/>
              </a:rPr>
              <a:t>Image Processing:</a:t>
            </a:r>
            <a:endParaRPr lang="en-IN" dirty="0">
              <a:effectLst/>
            </a:endParaRPr>
          </a:p>
          <a:p>
            <a:r>
              <a:rPr lang="en-IN" dirty="0">
                <a:effectLst/>
              </a:rPr>
              <a:t> </a:t>
            </a:r>
            <a:r>
              <a:rPr lang="en-IN" b="1" dirty="0">
                <a:effectLst/>
              </a:rPr>
              <a:t>Video Processing and Multimedia Systems:</a:t>
            </a:r>
            <a:endParaRPr lang="en-IN" dirty="0">
              <a:effectLst/>
            </a:endParaRPr>
          </a:p>
          <a:p>
            <a:r>
              <a:rPr lang="en-IN" dirty="0">
                <a:effectLst/>
              </a:rPr>
              <a:t> </a:t>
            </a:r>
            <a:r>
              <a:rPr lang="en-IN" b="1" dirty="0">
                <a:effectLst/>
              </a:rPr>
              <a:t>Machine Learning and Artificial Intelligence:</a:t>
            </a:r>
            <a:endParaRPr lang="en-IN" dirty="0">
              <a:effectLst/>
            </a:endParaRPr>
          </a:p>
          <a:p>
            <a:r>
              <a:rPr lang="en-IN" dirty="0">
                <a:effectLst/>
              </a:rPr>
              <a:t>  </a:t>
            </a:r>
            <a:r>
              <a:rPr lang="en-IN" b="1" dirty="0">
                <a:effectLst/>
              </a:rPr>
              <a:t>Digital Signal Processing (DSP):</a:t>
            </a:r>
            <a:r>
              <a:rPr lang="en-IN" dirty="0">
                <a:effectLst/>
              </a:rPr>
              <a:t> </a:t>
            </a:r>
          </a:p>
          <a:p>
            <a:r>
              <a:rPr lang="en-IN" dirty="0">
                <a:effectLst/>
              </a:rPr>
              <a:t> </a:t>
            </a:r>
            <a:r>
              <a:rPr lang="en-IN" b="1" dirty="0">
                <a:effectLst/>
              </a:rPr>
              <a:t>Internet of Things (IoT) Devices:</a:t>
            </a:r>
            <a:endParaRPr lang="en-IN" dirty="0">
              <a:effectLst/>
            </a:endParaRPr>
          </a:p>
          <a:p>
            <a:r>
              <a:rPr lang="en-IN" dirty="0">
                <a:effectLst/>
              </a:rPr>
              <a:t> </a:t>
            </a:r>
            <a:r>
              <a:rPr lang="en-IN" b="1" dirty="0">
                <a:effectLst/>
              </a:rPr>
              <a:t>Edge Computing:</a:t>
            </a:r>
            <a:endParaRPr lang="en-IN" dirty="0">
              <a:effectLst/>
            </a:endParaRPr>
          </a:p>
          <a:p>
            <a:pPr marL="36900" indent="0">
              <a:buNone/>
            </a:pPr>
            <a:endParaRPr lang="en-IN" dirty="0"/>
          </a:p>
        </p:txBody>
      </p:sp>
    </p:spTree>
    <p:extLst>
      <p:ext uri="{BB962C8B-B14F-4D97-AF65-F5344CB8AC3E}">
        <p14:creationId xmlns:p14="http://schemas.microsoft.com/office/powerpoint/2010/main" val="3159431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3CAEA-D760-0ACA-4872-4C83B10B4638}"/>
              </a:ext>
            </a:extLst>
          </p:cNvPr>
          <p:cNvSpPr>
            <a:spLocks noGrp="1"/>
          </p:cNvSpPr>
          <p:nvPr>
            <p:ph type="title"/>
          </p:nvPr>
        </p:nvSpPr>
        <p:spPr>
          <a:xfrm>
            <a:off x="542734" y="314325"/>
            <a:ext cx="10353762" cy="971136"/>
          </a:xfrm>
        </p:spPr>
        <p:txBody>
          <a:bodyPr>
            <a:normAutofit/>
          </a:bodyPr>
          <a:lstStyle/>
          <a:p>
            <a:r>
              <a:rPr lang="en-US" b="1" dirty="0"/>
              <a:t>Abstract</a:t>
            </a:r>
            <a:endParaRPr lang="en-IN" b="1" dirty="0"/>
          </a:p>
        </p:txBody>
      </p:sp>
      <p:sp>
        <p:nvSpPr>
          <p:cNvPr id="3" name="Content Placeholder 2">
            <a:extLst>
              <a:ext uri="{FF2B5EF4-FFF2-40B4-BE49-F238E27FC236}">
                <a16:creationId xmlns:a16="http://schemas.microsoft.com/office/drawing/2014/main" id="{3F87DA14-9B8E-0CEB-741F-CED5E185838E}"/>
              </a:ext>
            </a:extLst>
          </p:cNvPr>
          <p:cNvSpPr>
            <a:spLocks noGrp="1"/>
          </p:cNvSpPr>
          <p:nvPr>
            <p:ph idx="1"/>
          </p:nvPr>
        </p:nvSpPr>
        <p:spPr>
          <a:xfrm>
            <a:off x="641428" y="1160807"/>
            <a:ext cx="11007838" cy="5239993"/>
          </a:xfrm>
        </p:spPr>
        <p:txBody>
          <a:bodyPr>
            <a:noAutofit/>
          </a:bodyPr>
          <a:lstStyle/>
          <a:p>
            <a:pPr marL="36900" indent="0" algn="just">
              <a:lnSpc>
                <a:spcPct val="150000"/>
              </a:lnSpc>
              <a:buNone/>
            </a:pPr>
            <a:r>
              <a:rPr lang="en-US" sz="1800" dirty="0"/>
              <a:t>Modern VLSI design demands high speed and low power, particularly in arithmetic circuits. Conventional adders like RCA and CLA provide accurate results but suffer from higher delay and power consumption. This work proposes an approximate adder for error-tolerant applications and compares its performance with RCA and CLA based on MOS count, power, delay, and PDP. The proposed adder achieves significantly lower delay (0.1 ns) and power consumption (480 </a:t>
            </a:r>
            <a:r>
              <a:rPr lang="en-US" sz="1800" dirty="0" err="1"/>
              <a:t>nW</a:t>
            </a:r>
            <a:r>
              <a:rPr lang="en-US" sz="1800" dirty="0"/>
              <a:t>), with a much smaller PDP (48 </a:t>
            </a:r>
            <a:r>
              <a:rPr lang="en-US" sz="1800" dirty="0" err="1"/>
              <a:t>aJ</a:t>
            </a:r>
            <a:r>
              <a:rPr lang="en-US" sz="1800" dirty="0"/>
              <a:t>), indicating improved energy efficiency. Although its MOS count is slightly higher than RCA, it remains lower than CLA while delivering better overall performance. Thus, the approximate adder offers an effective trade-off between accuracy and efficiency, making it suitable for applications such as image processing, multimedia, and machine learning. </a:t>
            </a:r>
          </a:p>
          <a:p>
            <a:pPr marL="36900" indent="0" algn="just">
              <a:lnSpc>
                <a:spcPct val="150000"/>
              </a:lnSpc>
              <a:buNone/>
            </a:pPr>
            <a:r>
              <a:rPr lang="en-IN" sz="1800" b="1" dirty="0">
                <a:effectLst/>
              </a:rPr>
              <a:t>Keywords:</a:t>
            </a:r>
            <a:br>
              <a:rPr lang="en-IN" sz="1800" b="1" dirty="0">
                <a:effectLst/>
              </a:rPr>
            </a:br>
            <a:r>
              <a:rPr lang="en-IN" sz="1800" dirty="0">
                <a:effectLst/>
              </a:rPr>
              <a:t>Approximate Adder, Error-Tolerant Applications, Low Power Design, High-Speed Arithmetic, Ripple Carry Adder (RCA), Carry Look Ahead Adder (CLA), Power-Delay Product (PDP), Area Optimization, Digital VLSI Design, Energy Efficiency</a:t>
            </a:r>
          </a:p>
          <a:p>
            <a:endParaRPr lang="en-IN" sz="1800" dirty="0"/>
          </a:p>
        </p:txBody>
      </p:sp>
    </p:spTree>
    <p:extLst>
      <p:ext uri="{BB962C8B-B14F-4D97-AF65-F5344CB8AC3E}">
        <p14:creationId xmlns:p14="http://schemas.microsoft.com/office/powerpoint/2010/main" val="3220403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FA318-ECDB-E468-6EA3-15DE70789FC9}"/>
              </a:ext>
            </a:extLst>
          </p:cNvPr>
          <p:cNvSpPr>
            <a:spLocks noGrp="1"/>
          </p:cNvSpPr>
          <p:nvPr>
            <p:ph type="title"/>
          </p:nvPr>
        </p:nvSpPr>
        <p:spPr/>
        <p:txBody>
          <a:bodyPr>
            <a:normAutofit fontScale="90000"/>
          </a:bodyPr>
          <a:lstStyle/>
          <a:p>
            <a:r>
              <a:rPr lang="en-US" b="1" dirty="0"/>
              <a:t>Introduction</a:t>
            </a:r>
            <a:br>
              <a:rPr lang="en-US" b="1" dirty="0"/>
            </a:br>
            <a:endParaRPr lang="en-IN" b="1" dirty="0"/>
          </a:p>
        </p:txBody>
      </p:sp>
      <p:sp>
        <p:nvSpPr>
          <p:cNvPr id="3" name="Content Placeholder 2">
            <a:extLst>
              <a:ext uri="{FF2B5EF4-FFF2-40B4-BE49-F238E27FC236}">
                <a16:creationId xmlns:a16="http://schemas.microsoft.com/office/drawing/2014/main" id="{7695A7AD-AE02-1D57-5452-BC0BBF5AE46E}"/>
              </a:ext>
            </a:extLst>
          </p:cNvPr>
          <p:cNvSpPr>
            <a:spLocks noGrp="1"/>
          </p:cNvSpPr>
          <p:nvPr>
            <p:ph idx="1"/>
          </p:nvPr>
        </p:nvSpPr>
        <p:spPr/>
        <p:txBody>
          <a:bodyPr>
            <a:normAutofit fontScale="92500" lnSpcReduction="20000"/>
          </a:bodyPr>
          <a:lstStyle/>
          <a:p>
            <a:r>
              <a:rPr lang="en-US" dirty="0"/>
              <a:t>The advancement of VLSI technology has increased the demand for high-speed, low-power, and area-efficient arithmetic circuits, with adders being essential components in digital systems. Conventional adders such as RCA and CLA provide accurate results but suffer from limitations in delay, power consumption, and complexity. RCA is simple and area-efficient but slow due to carry propagation, while CLA improves speed at the cost of higher power and hardware complexity.</a:t>
            </a:r>
          </a:p>
          <a:p>
            <a:r>
              <a:rPr lang="en-US" dirty="0"/>
              <a:t>Approximate computing has emerged as an effective solution for error-tolerant applications like image processing, machine learning, and multimedia, where perfect accuracy is not always required. Approximate adders exploit this by introducing controlled inaccuracies, typically in less significant bits, to reduce delay, power consumption, and circuit complexity. This results in faster operation, lower energy usage, and compact design.</a:t>
            </a:r>
          </a:p>
          <a:p>
            <a:endParaRPr lang="en-IN" dirty="0"/>
          </a:p>
        </p:txBody>
      </p:sp>
    </p:spTree>
    <p:extLst>
      <p:ext uri="{BB962C8B-B14F-4D97-AF65-F5344CB8AC3E}">
        <p14:creationId xmlns:p14="http://schemas.microsoft.com/office/powerpoint/2010/main" val="883142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5119A-ADC9-F797-E227-0EB2E1ACAF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19094D-E705-3FE6-2AFE-ECF7BE6FF9D0}"/>
              </a:ext>
            </a:extLst>
          </p:cNvPr>
          <p:cNvSpPr>
            <a:spLocks noGrp="1"/>
          </p:cNvSpPr>
          <p:nvPr>
            <p:ph type="title"/>
          </p:nvPr>
        </p:nvSpPr>
        <p:spPr/>
        <p:txBody>
          <a:bodyPr>
            <a:normAutofit fontScale="90000"/>
          </a:bodyPr>
          <a:lstStyle/>
          <a:p>
            <a:r>
              <a:rPr lang="en-US" b="1" dirty="0"/>
              <a:t>Introduction</a:t>
            </a:r>
            <a:br>
              <a:rPr lang="en-US" b="1" dirty="0"/>
            </a:br>
            <a:endParaRPr lang="en-IN" b="1" dirty="0"/>
          </a:p>
        </p:txBody>
      </p:sp>
      <p:sp>
        <p:nvSpPr>
          <p:cNvPr id="3" name="Content Placeholder 2">
            <a:extLst>
              <a:ext uri="{FF2B5EF4-FFF2-40B4-BE49-F238E27FC236}">
                <a16:creationId xmlns:a16="http://schemas.microsoft.com/office/drawing/2014/main" id="{9A12D77A-E3DE-E1C7-9958-AB718CA57668}"/>
              </a:ext>
            </a:extLst>
          </p:cNvPr>
          <p:cNvSpPr>
            <a:spLocks noGrp="1"/>
          </p:cNvSpPr>
          <p:nvPr>
            <p:ph idx="1"/>
          </p:nvPr>
        </p:nvSpPr>
        <p:spPr/>
        <p:txBody>
          <a:bodyPr>
            <a:normAutofit/>
          </a:bodyPr>
          <a:lstStyle/>
          <a:p>
            <a:r>
              <a:rPr lang="en-US" dirty="0"/>
              <a:t>These adders offer a better trade-off between accuracy and efficiency compared to traditional designs, making them suitable for modern low-power systems. Error metrics such as ER, MRED, and MNED are used to ensure acceptable accuracy levels. Despite challenges in maintaining output quality, well-designed approximate adders achieve significant performance improvements.</a:t>
            </a:r>
          </a:p>
          <a:p>
            <a:r>
              <a:rPr lang="en-US" dirty="0"/>
              <a:t>Overall, approximate adders provide an efficient alternative to exact adders and are highly promising for next-generation energy-efficient VLSI applications.</a:t>
            </a:r>
          </a:p>
          <a:p>
            <a:endParaRPr lang="en-IN" dirty="0"/>
          </a:p>
        </p:txBody>
      </p:sp>
    </p:spTree>
    <p:extLst>
      <p:ext uri="{BB962C8B-B14F-4D97-AF65-F5344CB8AC3E}">
        <p14:creationId xmlns:p14="http://schemas.microsoft.com/office/powerpoint/2010/main" val="3824604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0AC74-6860-121A-3479-150EA674F3C6}"/>
              </a:ext>
            </a:extLst>
          </p:cNvPr>
          <p:cNvSpPr>
            <a:spLocks noGrp="1"/>
          </p:cNvSpPr>
          <p:nvPr>
            <p:ph type="title"/>
          </p:nvPr>
        </p:nvSpPr>
        <p:spPr/>
        <p:txBody>
          <a:bodyPr/>
          <a:lstStyle/>
          <a:p>
            <a:r>
              <a:rPr lang="en-US" dirty="0"/>
              <a:t>Literature review</a:t>
            </a:r>
            <a:endParaRPr lang="en-IN" dirty="0"/>
          </a:p>
        </p:txBody>
      </p:sp>
      <p:sp>
        <p:nvSpPr>
          <p:cNvPr id="3" name="Content Placeholder 2">
            <a:extLst>
              <a:ext uri="{FF2B5EF4-FFF2-40B4-BE49-F238E27FC236}">
                <a16:creationId xmlns:a16="http://schemas.microsoft.com/office/drawing/2014/main" id="{8F69BC5E-677C-6BFB-7819-7E98EA6EDBD6}"/>
              </a:ext>
            </a:extLst>
          </p:cNvPr>
          <p:cNvSpPr>
            <a:spLocks noGrp="1"/>
          </p:cNvSpPr>
          <p:nvPr>
            <p:ph idx="1"/>
          </p:nvPr>
        </p:nvSpPr>
        <p:spPr/>
        <p:txBody>
          <a:bodyPr>
            <a:normAutofit fontScale="92500" lnSpcReduction="20000"/>
          </a:bodyPr>
          <a:lstStyle/>
          <a:p>
            <a:pPr marL="36900" indent="0">
              <a:buNone/>
            </a:pPr>
            <a:r>
              <a:rPr lang="en-US" b="1" dirty="0"/>
              <a:t> Joshi Viraj Vilas and Pravin Mane (2024)</a:t>
            </a:r>
            <a:br>
              <a:rPr lang="en-US" dirty="0"/>
            </a:br>
            <a:r>
              <a:rPr lang="en-US" b="1" dirty="0"/>
              <a:t>Title:</a:t>
            </a:r>
            <a:r>
              <a:rPr lang="en-US" dirty="0"/>
              <a:t> Study on Approximate Arithmetic Circuits for Error-Tolerant Applications</a:t>
            </a:r>
            <a:br>
              <a:rPr lang="en-US" dirty="0"/>
            </a:br>
            <a:r>
              <a:rPr lang="en-US" b="1" dirty="0"/>
              <a:t>Summary:</a:t>
            </a:r>
            <a:br>
              <a:rPr lang="en-US" dirty="0"/>
            </a:br>
            <a:r>
              <a:rPr lang="en-US" dirty="0"/>
              <a:t>The authors presented a detailed analysis of approximate adder architectures and compared them with conventional adders like RCA and CLA. Their work showed that approximate adders significantly reduce power consumption and delay due to simplified logic design. The study also highlighted that for applications such as image and video processing, minor inaccuracies do not affect output quality, making approximate adders more efficient and suitable for energy-efficient systems.</a:t>
            </a:r>
          </a:p>
          <a:p>
            <a:pPr marL="36900" indent="0">
              <a:buNone/>
            </a:pPr>
            <a:br>
              <a:rPr lang="en-US" dirty="0"/>
            </a:br>
            <a:endParaRPr lang="en-US" dirty="0"/>
          </a:p>
          <a:p>
            <a:endParaRPr lang="en-IN" dirty="0"/>
          </a:p>
        </p:txBody>
      </p:sp>
    </p:spTree>
    <p:extLst>
      <p:ext uri="{BB962C8B-B14F-4D97-AF65-F5344CB8AC3E}">
        <p14:creationId xmlns:p14="http://schemas.microsoft.com/office/powerpoint/2010/main" val="1249302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92D5A-5A3C-821F-9002-3228B0BE1F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A159E-DBB0-97F5-E862-A21DE8FC1134}"/>
              </a:ext>
            </a:extLst>
          </p:cNvPr>
          <p:cNvSpPr>
            <a:spLocks noGrp="1"/>
          </p:cNvSpPr>
          <p:nvPr>
            <p:ph type="title"/>
          </p:nvPr>
        </p:nvSpPr>
        <p:spPr/>
        <p:txBody>
          <a:bodyPr/>
          <a:lstStyle/>
          <a:p>
            <a:r>
              <a:rPr lang="en-US" dirty="0"/>
              <a:t>Literature review</a:t>
            </a:r>
            <a:endParaRPr lang="en-IN" dirty="0"/>
          </a:p>
        </p:txBody>
      </p:sp>
      <p:sp>
        <p:nvSpPr>
          <p:cNvPr id="3" name="Content Placeholder 2">
            <a:extLst>
              <a:ext uri="{FF2B5EF4-FFF2-40B4-BE49-F238E27FC236}">
                <a16:creationId xmlns:a16="http://schemas.microsoft.com/office/drawing/2014/main" id="{E4EB0EBC-E597-BAED-0616-988057991EA4}"/>
              </a:ext>
            </a:extLst>
          </p:cNvPr>
          <p:cNvSpPr>
            <a:spLocks noGrp="1"/>
          </p:cNvSpPr>
          <p:nvPr>
            <p:ph idx="1"/>
          </p:nvPr>
        </p:nvSpPr>
        <p:spPr/>
        <p:txBody>
          <a:bodyPr>
            <a:normAutofit/>
          </a:bodyPr>
          <a:lstStyle/>
          <a:p>
            <a:pPr marL="36900" indent="0">
              <a:buNone/>
            </a:pPr>
            <a:r>
              <a:rPr lang="en-US" b="1" dirty="0"/>
              <a:t> Akram Mohammadi et al. (2022)</a:t>
            </a:r>
            <a:br>
              <a:rPr lang="en-US" dirty="0"/>
            </a:br>
            <a:r>
              <a:rPr lang="en-US" b="1" dirty="0"/>
              <a:t>Title:</a:t>
            </a:r>
            <a:r>
              <a:rPr lang="en-US" dirty="0"/>
              <a:t> CNFET-Based Approximate Full Adder Design</a:t>
            </a:r>
            <a:br>
              <a:rPr lang="en-US" dirty="0"/>
            </a:br>
            <a:r>
              <a:rPr lang="en-US" b="1" dirty="0"/>
              <a:t>Summary:</a:t>
            </a:r>
            <a:br>
              <a:rPr lang="en-US" dirty="0"/>
            </a:br>
            <a:r>
              <a:rPr lang="en-US" dirty="0"/>
              <a:t>This work proposed an approximate full adder using CNFET technology combined with transmission gate and pass transistor logic. The design achieved lower switching activity and improved energy efficiency. Results indicated a significant reduction in power-delay product (PDP) and faster operation compared to CMOS-based RCA and CLA, making it ideal for low-power and high-speed applications.</a:t>
            </a:r>
            <a:br>
              <a:rPr lang="en-US" dirty="0"/>
            </a:br>
            <a:endParaRPr lang="en-US" dirty="0"/>
          </a:p>
          <a:p>
            <a:endParaRPr lang="en-IN" dirty="0"/>
          </a:p>
        </p:txBody>
      </p:sp>
    </p:spTree>
    <p:extLst>
      <p:ext uri="{BB962C8B-B14F-4D97-AF65-F5344CB8AC3E}">
        <p14:creationId xmlns:p14="http://schemas.microsoft.com/office/powerpoint/2010/main" val="3560891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43C8C-DF5C-4DA1-2477-7CA13E628A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B5B2B-2D8F-04AB-72F1-CA3737BCEDCD}"/>
              </a:ext>
            </a:extLst>
          </p:cNvPr>
          <p:cNvSpPr>
            <a:spLocks noGrp="1"/>
          </p:cNvSpPr>
          <p:nvPr>
            <p:ph type="title"/>
          </p:nvPr>
        </p:nvSpPr>
        <p:spPr/>
        <p:txBody>
          <a:bodyPr/>
          <a:lstStyle/>
          <a:p>
            <a:r>
              <a:rPr lang="en-US" dirty="0"/>
              <a:t>Literature review</a:t>
            </a:r>
            <a:endParaRPr lang="en-IN" dirty="0"/>
          </a:p>
        </p:txBody>
      </p:sp>
      <p:sp>
        <p:nvSpPr>
          <p:cNvPr id="3" name="Content Placeholder 2">
            <a:extLst>
              <a:ext uri="{FF2B5EF4-FFF2-40B4-BE49-F238E27FC236}">
                <a16:creationId xmlns:a16="http://schemas.microsoft.com/office/drawing/2014/main" id="{0FBF5FB4-1E67-7425-E9E6-A6C21AEB73D1}"/>
              </a:ext>
            </a:extLst>
          </p:cNvPr>
          <p:cNvSpPr>
            <a:spLocks noGrp="1"/>
          </p:cNvSpPr>
          <p:nvPr>
            <p:ph idx="1"/>
          </p:nvPr>
        </p:nvSpPr>
        <p:spPr/>
        <p:txBody>
          <a:bodyPr>
            <a:normAutofit/>
          </a:bodyPr>
          <a:lstStyle/>
          <a:p>
            <a:pPr marL="36900" indent="0">
              <a:buNone/>
            </a:pPr>
            <a:r>
              <a:rPr lang="en-US" b="1" dirty="0"/>
              <a:t> Bhaskar Gaur, Himanshu Thapliyal, and Travis S. Humble (2024)</a:t>
            </a:r>
            <a:br>
              <a:rPr lang="en-US" dirty="0"/>
            </a:br>
            <a:r>
              <a:rPr lang="en-US" b="1" dirty="0"/>
              <a:t>Title:</a:t>
            </a:r>
            <a:r>
              <a:rPr lang="en-US" dirty="0"/>
              <a:t> Noise-Resilient Approximate Quantum Adders</a:t>
            </a:r>
            <a:br>
              <a:rPr lang="en-US" dirty="0"/>
            </a:br>
            <a:r>
              <a:rPr lang="en-US" b="1" dirty="0"/>
              <a:t>Summary:</a:t>
            </a:r>
            <a:br>
              <a:rPr lang="en-US" dirty="0"/>
            </a:br>
            <a:r>
              <a:rPr lang="en-US" dirty="0"/>
              <a:t>The authors extended approximate computing concepts to quantum systems by designing noise-resilient approximate quantum adders. Their approach reduced circuit depth and enhanced fault tolerance. The study demonstrated that approximation improves computational efficiency and robustness against quantum noise, indicating its importance in future quantum computing technologies.</a:t>
            </a:r>
            <a:br>
              <a:rPr lang="en-US" dirty="0"/>
            </a:br>
            <a:endParaRPr lang="en-US" dirty="0"/>
          </a:p>
          <a:p>
            <a:endParaRPr lang="en-IN" dirty="0"/>
          </a:p>
        </p:txBody>
      </p:sp>
    </p:spTree>
    <p:extLst>
      <p:ext uri="{BB962C8B-B14F-4D97-AF65-F5344CB8AC3E}">
        <p14:creationId xmlns:p14="http://schemas.microsoft.com/office/powerpoint/2010/main" val="3431907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7EC5E-D18A-32D4-1D72-D9AE9A48E5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5860BB-A008-5A6E-281B-6B32C9C10C99}"/>
              </a:ext>
            </a:extLst>
          </p:cNvPr>
          <p:cNvSpPr>
            <a:spLocks noGrp="1"/>
          </p:cNvSpPr>
          <p:nvPr>
            <p:ph type="title"/>
          </p:nvPr>
        </p:nvSpPr>
        <p:spPr/>
        <p:txBody>
          <a:bodyPr/>
          <a:lstStyle/>
          <a:p>
            <a:r>
              <a:rPr lang="en-US" dirty="0"/>
              <a:t>Literature review</a:t>
            </a:r>
            <a:endParaRPr lang="en-IN" dirty="0"/>
          </a:p>
        </p:txBody>
      </p:sp>
      <p:sp>
        <p:nvSpPr>
          <p:cNvPr id="3" name="Content Placeholder 2">
            <a:extLst>
              <a:ext uri="{FF2B5EF4-FFF2-40B4-BE49-F238E27FC236}">
                <a16:creationId xmlns:a16="http://schemas.microsoft.com/office/drawing/2014/main" id="{ACE9495F-BAE8-7699-560C-A6F212C2D5BE}"/>
              </a:ext>
            </a:extLst>
          </p:cNvPr>
          <p:cNvSpPr>
            <a:spLocks noGrp="1"/>
          </p:cNvSpPr>
          <p:nvPr>
            <p:ph idx="1"/>
          </p:nvPr>
        </p:nvSpPr>
        <p:spPr/>
        <p:txBody>
          <a:bodyPr/>
          <a:lstStyle/>
          <a:p>
            <a:pPr marL="36900" indent="0">
              <a:buNone/>
            </a:pPr>
            <a:r>
              <a:rPr lang="en-US" b="1" dirty="0"/>
              <a:t>Melanie Qiu et al. (2024)</a:t>
            </a:r>
            <a:br>
              <a:rPr lang="en-US" dirty="0"/>
            </a:br>
            <a:r>
              <a:rPr lang="en-US" b="1" dirty="0"/>
              <a:t>Title:</a:t>
            </a:r>
            <a:r>
              <a:rPr lang="en-US" dirty="0"/>
              <a:t> IMPLY Logic-Based Approximate Adders for In-Memory Computing</a:t>
            </a:r>
            <a:br>
              <a:rPr lang="en-US" dirty="0"/>
            </a:br>
            <a:r>
              <a:rPr lang="en-US" b="1" dirty="0"/>
              <a:t>Summary:</a:t>
            </a:r>
            <a:br>
              <a:rPr lang="en-US" dirty="0"/>
            </a:br>
            <a:r>
              <a:rPr lang="en-US" dirty="0"/>
              <a:t>This research introduced approximate adders using IMPLY logic for in-memory computing architectures. The design minimized computational steps, resulting in improved speed and reduced energy consumption. The proposed adder outperformed RCA in delay and showed lower complexity and power usage than CLA, making it suitable for machine learning and data-intensive applications.</a:t>
            </a:r>
          </a:p>
          <a:p>
            <a:endParaRPr lang="en-IN" dirty="0"/>
          </a:p>
        </p:txBody>
      </p:sp>
    </p:spTree>
    <p:extLst>
      <p:ext uri="{BB962C8B-B14F-4D97-AF65-F5344CB8AC3E}">
        <p14:creationId xmlns:p14="http://schemas.microsoft.com/office/powerpoint/2010/main" val="1271864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7F34C-1305-BC9D-1766-9F0872947592}"/>
              </a:ext>
            </a:extLst>
          </p:cNvPr>
          <p:cNvSpPr>
            <a:spLocks noGrp="1"/>
          </p:cNvSpPr>
          <p:nvPr>
            <p:ph type="title"/>
          </p:nvPr>
        </p:nvSpPr>
        <p:spPr>
          <a:xfrm>
            <a:off x="643864" y="1007165"/>
            <a:ext cx="10353762" cy="1257300"/>
          </a:xfrm>
        </p:spPr>
        <p:txBody>
          <a:bodyPr>
            <a:normAutofit fontScale="90000"/>
          </a:bodyPr>
          <a:lstStyle/>
          <a:p>
            <a:pPr lvl="0">
              <a:defRPr cap="all"/>
            </a:pPr>
            <a:r>
              <a:rPr lang="en-US" b="1" dirty="0"/>
              <a:t>Existing method</a:t>
            </a:r>
            <a:br>
              <a:rPr lang="en-US" b="1" dirty="0"/>
            </a:br>
            <a:endParaRPr lang="en-IN" b="1" dirty="0"/>
          </a:p>
        </p:txBody>
      </p:sp>
      <p:sp>
        <p:nvSpPr>
          <p:cNvPr id="3" name="Content Placeholder 2">
            <a:extLst>
              <a:ext uri="{FF2B5EF4-FFF2-40B4-BE49-F238E27FC236}">
                <a16:creationId xmlns:a16="http://schemas.microsoft.com/office/drawing/2014/main" id="{6ADD3FC5-40F3-3165-3EED-61C6D6E121C4}"/>
              </a:ext>
            </a:extLst>
          </p:cNvPr>
          <p:cNvSpPr>
            <a:spLocks noGrp="1"/>
          </p:cNvSpPr>
          <p:nvPr>
            <p:ph idx="1"/>
          </p:nvPr>
        </p:nvSpPr>
        <p:spPr>
          <a:xfrm>
            <a:off x="643864" y="2421006"/>
            <a:ext cx="5115508" cy="3714749"/>
          </a:xfrm>
        </p:spPr>
        <p:txBody>
          <a:bodyPr>
            <a:normAutofit lnSpcReduction="10000"/>
          </a:bodyPr>
          <a:lstStyle/>
          <a:p>
            <a:pPr marL="36900" indent="0">
              <a:buNone/>
            </a:pPr>
            <a:r>
              <a:rPr lang="en-US" b="1" dirty="0"/>
              <a:t>Ripple Carry Adder (RCA):</a:t>
            </a:r>
            <a:br>
              <a:rPr lang="en-US" dirty="0"/>
            </a:br>
            <a:r>
              <a:rPr lang="en-US" dirty="0"/>
              <a:t>RCA is a simple adder formed by cascading full adders, where the carry propagates sequentially from LSB to MSB. It is easy to design and area-efficient, but suffers from high delay due to linear carry propagation. As bit size increases, delay and power consumption rise, making RCA unsuitable for high-speed applications.</a:t>
            </a:r>
          </a:p>
          <a:p>
            <a:endParaRPr lang="en-IN" dirty="0"/>
          </a:p>
        </p:txBody>
      </p:sp>
      <p:pic>
        <p:nvPicPr>
          <p:cNvPr id="5" name="Picture 4">
            <a:extLst>
              <a:ext uri="{FF2B5EF4-FFF2-40B4-BE49-F238E27FC236}">
                <a16:creationId xmlns:a16="http://schemas.microsoft.com/office/drawing/2014/main" id="{7E822545-BB3C-4817-4008-9204B1C2990A}"/>
              </a:ext>
            </a:extLst>
          </p:cNvPr>
          <p:cNvPicPr>
            <a:picLocks noChangeAspect="1"/>
          </p:cNvPicPr>
          <p:nvPr/>
        </p:nvPicPr>
        <p:blipFill>
          <a:blip r:embed="rId2"/>
          <a:stretch>
            <a:fillRect/>
          </a:stretch>
        </p:blipFill>
        <p:spPr>
          <a:xfrm>
            <a:off x="5971407" y="2672054"/>
            <a:ext cx="5344271" cy="2372056"/>
          </a:xfrm>
          <a:prstGeom prst="rect">
            <a:avLst/>
          </a:prstGeom>
        </p:spPr>
      </p:pic>
    </p:spTree>
    <p:extLst>
      <p:ext uri="{BB962C8B-B14F-4D97-AF65-F5344CB8AC3E}">
        <p14:creationId xmlns:p14="http://schemas.microsoft.com/office/powerpoint/2010/main" val="1504676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77A95-AF04-238C-4662-8E6884D867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DC5AD1-266D-38F3-7A9A-327A29803EE4}"/>
              </a:ext>
            </a:extLst>
          </p:cNvPr>
          <p:cNvSpPr>
            <a:spLocks noGrp="1"/>
          </p:cNvSpPr>
          <p:nvPr>
            <p:ph type="title"/>
          </p:nvPr>
        </p:nvSpPr>
        <p:spPr>
          <a:xfrm>
            <a:off x="582491" y="556591"/>
            <a:ext cx="10353762" cy="1257300"/>
          </a:xfrm>
        </p:spPr>
        <p:txBody>
          <a:bodyPr>
            <a:normAutofit fontScale="90000"/>
          </a:bodyPr>
          <a:lstStyle/>
          <a:p>
            <a:pPr lvl="0">
              <a:defRPr cap="all"/>
            </a:pPr>
            <a:r>
              <a:rPr lang="en-US" b="1" dirty="0"/>
              <a:t>Existing method</a:t>
            </a:r>
            <a:br>
              <a:rPr lang="en-US" b="1" dirty="0"/>
            </a:br>
            <a:endParaRPr lang="en-IN" b="1" dirty="0"/>
          </a:p>
        </p:txBody>
      </p:sp>
      <p:sp>
        <p:nvSpPr>
          <p:cNvPr id="3" name="Content Placeholder 2">
            <a:extLst>
              <a:ext uri="{FF2B5EF4-FFF2-40B4-BE49-F238E27FC236}">
                <a16:creationId xmlns:a16="http://schemas.microsoft.com/office/drawing/2014/main" id="{10725357-598D-0E39-47AC-D5C41E97E26B}"/>
              </a:ext>
            </a:extLst>
          </p:cNvPr>
          <p:cNvSpPr>
            <a:spLocks noGrp="1"/>
          </p:cNvSpPr>
          <p:nvPr>
            <p:ph idx="1"/>
          </p:nvPr>
        </p:nvSpPr>
        <p:spPr>
          <a:xfrm>
            <a:off x="789202" y="2047462"/>
            <a:ext cx="4970170" cy="4253947"/>
          </a:xfrm>
        </p:spPr>
        <p:txBody>
          <a:bodyPr>
            <a:normAutofit lnSpcReduction="10000"/>
          </a:bodyPr>
          <a:lstStyle/>
          <a:p>
            <a:pPr marL="36900" indent="0">
              <a:buNone/>
            </a:pPr>
            <a:r>
              <a:rPr lang="en-US" b="1" dirty="0"/>
              <a:t>Carry Look Ahead Adder (CLA):</a:t>
            </a:r>
            <a:br>
              <a:rPr lang="en-US" dirty="0"/>
            </a:br>
            <a:r>
              <a:rPr lang="en-US" dirty="0"/>
              <a:t>CLA improves speed by computing carry signals in advance using generate (G = A·B) and propagate (P = A ⊕ B) logic, enabling parallel carry calculation. This significantly reduces delay compared to RCA and is suitable for high-speed operations. However, CLA has higher complexity, increased area, and greater power consumption, especially for larger bit-width designs.</a:t>
            </a:r>
          </a:p>
          <a:p>
            <a:endParaRPr lang="en-IN" dirty="0"/>
          </a:p>
        </p:txBody>
      </p:sp>
      <p:pic>
        <p:nvPicPr>
          <p:cNvPr id="5" name="Picture 4">
            <a:extLst>
              <a:ext uri="{FF2B5EF4-FFF2-40B4-BE49-F238E27FC236}">
                <a16:creationId xmlns:a16="http://schemas.microsoft.com/office/drawing/2014/main" id="{D226481F-05B5-DD5B-252F-B8DC8974EAE6}"/>
              </a:ext>
            </a:extLst>
          </p:cNvPr>
          <p:cNvPicPr>
            <a:picLocks noChangeAspect="1"/>
          </p:cNvPicPr>
          <p:nvPr/>
        </p:nvPicPr>
        <p:blipFill>
          <a:blip r:embed="rId2"/>
          <a:stretch>
            <a:fillRect/>
          </a:stretch>
        </p:blipFill>
        <p:spPr>
          <a:xfrm>
            <a:off x="5982380" y="2250381"/>
            <a:ext cx="5077534" cy="3019846"/>
          </a:xfrm>
          <a:prstGeom prst="rect">
            <a:avLst/>
          </a:prstGeom>
        </p:spPr>
      </p:pic>
    </p:spTree>
    <p:extLst>
      <p:ext uri="{BB962C8B-B14F-4D97-AF65-F5344CB8AC3E}">
        <p14:creationId xmlns:p14="http://schemas.microsoft.com/office/powerpoint/2010/main" val="2843064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0677C-0F47-6139-5F80-F7061F6E9340}"/>
              </a:ext>
            </a:extLst>
          </p:cNvPr>
          <p:cNvSpPr>
            <a:spLocks noGrp="1"/>
          </p:cNvSpPr>
          <p:nvPr>
            <p:ph type="title"/>
          </p:nvPr>
        </p:nvSpPr>
        <p:spPr/>
        <p:txBody>
          <a:bodyPr>
            <a:normAutofit fontScale="90000"/>
          </a:bodyPr>
          <a:lstStyle/>
          <a:p>
            <a:r>
              <a:rPr lang="en-US" dirty="0"/>
              <a:t>Drawbacks</a:t>
            </a:r>
            <a:br>
              <a:rPr lang="en-US" dirty="0"/>
            </a:br>
            <a:endParaRPr lang="en-IN" dirty="0"/>
          </a:p>
        </p:txBody>
      </p:sp>
      <p:sp>
        <p:nvSpPr>
          <p:cNvPr id="10" name="Rectangle 4">
            <a:extLst>
              <a:ext uri="{FF2B5EF4-FFF2-40B4-BE49-F238E27FC236}">
                <a16:creationId xmlns:a16="http://schemas.microsoft.com/office/drawing/2014/main" id="{6BEC9A0C-19C9-4B1A-5EB3-454D975E2499}"/>
              </a:ext>
            </a:extLst>
          </p:cNvPr>
          <p:cNvSpPr>
            <a:spLocks noGrp="1" noChangeArrowheads="1"/>
          </p:cNvSpPr>
          <p:nvPr>
            <p:ph idx="1"/>
          </p:nvPr>
        </p:nvSpPr>
        <p:spPr bwMode="auto">
          <a:xfrm>
            <a:off x="1546509" y="2345378"/>
            <a:ext cx="7359066" cy="3274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rPr>
              <a:t>High propagation delay in RCA due to linear carry chain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rPr>
              <a:t>Poor performance of RCA for large bit-width operations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rPr>
              <a:t>Sequential carry dependency prevents parallel computation in RCA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rPr>
              <a:t>Increased power consumption in RCA at higher frequencies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rPr>
              <a:t>High hardware complexity and larger area in CLA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rPr>
              <a:t>Higher power consumption and scalability issues in CLA </a:t>
            </a:r>
          </a:p>
        </p:txBody>
      </p:sp>
    </p:spTree>
    <p:extLst>
      <p:ext uri="{BB962C8B-B14F-4D97-AF65-F5344CB8AC3E}">
        <p14:creationId xmlns:p14="http://schemas.microsoft.com/office/powerpoint/2010/main" val="37972262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04F51-07D5-ABD6-86F5-53337BF0C0B1}"/>
              </a:ext>
            </a:extLst>
          </p:cNvPr>
          <p:cNvSpPr>
            <a:spLocks noGrp="1"/>
          </p:cNvSpPr>
          <p:nvPr>
            <p:ph type="title"/>
          </p:nvPr>
        </p:nvSpPr>
        <p:spPr/>
        <p:txBody>
          <a:bodyPr>
            <a:normAutofit fontScale="90000"/>
          </a:bodyPr>
          <a:lstStyle/>
          <a:p>
            <a:r>
              <a:rPr lang="en-US" dirty="0"/>
              <a:t>Proposed method </a:t>
            </a:r>
            <a:br>
              <a:rPr lang="en-US" dirty="0"/>
            </a:br>
            <a:endParaRPr lang="en-IN" dirty="0"/>
          </a:p>
        </p:txBody>
      </p:sp>
      <p:sp>
        <p:nvSpPr>
          <p:cNvPr id="3" name="Content Placeholder 2">
            <a:extLst>
              <a:ext uri="{FF2B5EF4-FFF2-40B4-BE49-F238E27FC236}">
                <a16:creationId xmlns:a16="http://schemas.microsoft.com/office/drawing/2014/main" id="{92ADD0AA-66DE-95E8-4807-35A0E00869BA}"/>
              </a:ext>
            </a:extLst>
          </p:cNvPr>
          <p:cNvSpPr>
            <a:spLocks noGrp="1"/>
          </p:cNvSpPr>
          <p:nvPr>
            <p:ph idx="1"/>
          </p:nvPr>
        </p:nvSpPr>
        <p:spPr>
          <a:xfrm>
            <a:off x="913795" y="1338470"/>
            <a:ext cx="10353762" cy="4452729"/>
          </a:xfrm>
        </p:spPr>
        <p:txBody>
          <a:bodyPr>
            <a:normAutofit fontScale="92500" lnSpcReduction="10000"/>
          </a:bodyPr>
          <a:lstStyle/>
          <a:p>
            <a:r>
              <a:rPr lang="en-US" dirty="0"/>
              <a:t>With the growth of VLSI systems, conventional adders like RCA and CLA are becoming inefficient due to high power, delay, and area, especially when perfect accuracy is not always required. Applications such as multimedia and machine learning can tolerate small errors, leading to the use of approximate adders.</a:t>
            </a:r>
          </a:p>
          <a:p>
            <a:r>
              <a:rPr lang="en-US" dirty="0"/>
              <a:t>The proposed approximate adder divides the circuit into two parts: an accurate MSB section using full adders to maintain result quality, and an approximate LSB section using simplified logic to reduce complexity. By minimizing or eliminating carry propagation in the LSBs, the design achieves lower delay and power consumption.</a:t>
            </a:r>
          </a:p>
          <a:p>
            <a:r>
              <a:rPr lang="en-US" dirty="0"/>
              <a:t>The adder operates by computing approximate sums in parallel while maintaining accuracy in higher bits, forming a hybrid structure. Error metrics like ER, MRED, and MNED are used to ensure acceptable accuracy, with partial approximation (typically 25–50% LSBs) providing an effective balance between performance and precision.</a:t>
            </a:r>
          </a:p>
        </p:txBody>
      </p:sp>
    </p:spTree>
    <p:extLst>
      <p:ext uri="{BB962C8B-B14F-4D97-AF65-F5344CB8AC3E}">
        <p14:creationId xmlns:p14="http://schemas.microsoft.com/office/powerpoint/2010/main" val="3397455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FF52D-5015-8639-D533-BF41417C228F}"/>
              </a:ext>
            </a:extLst>
          </p:cNvPr>
          <p:cNvSpPr>
            <a:spLocks noGrp="1"/>
          </p:cNvSpPr>
          <p:nvPr>
            <p:ph type="title"/>
          </p:nvPr>
        </p:nvSpPr>
        <p:spPr/>
        <p:txBody>
          <a:bodyPr/>
          <a:lstStyle/>
          <a:p>
            <a:r>
              <a:rPr lang="en-US" dirty="0"/>
              <a:t>Advantages</a:t>
            </a:r>
            <a:endParaRPr lang="en-IN" dirty="0"/>
          </a:p>
        </p:txBody>
      </p:sp>
      <p:sp>
        <p:nvSpPr>
          <p:cNvPr id="4" name="Rectangle 1">
            <a:extLst>
              <a:ext uri="{FF2B5EF4-FFF2-40B4-BE49-F238E27FC236}">
                <a16:creationId xmlns:a16="http://schemas.microsoft.com/office/drawing/2014/main" id="{1CBF521B-4CB2-44BF-73B6-3C4DA948A1D8}"/>
              </a:ext>
            </a:extLst>
          </p:cNvPr>
          <p:cNvSpPr>
            <a:spLocks noGrp="1" noChangeArrowheads="1"/>
          </p:cNvSpPr>
          <p:nvPr>
            <p:ph idx="1"/>
          </p:nvPr>
        </p:nvSpPr>
        <p:spPr bwMode="auto">
          <a:xfrm>
            <a:off x="1170663" y="2461282"/>
            <a:ext cx="8530156" cy="2812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Reduced power consumption due to simplified logic and lower switching activity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High-speed operation by minimizing carry propagation delay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Lower hardware complexity with fewer logic gates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Improved area efficiency with reduced transistor count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Better power-delay product (PDP) for enhanced energy efficiency </a:t>
            </a:r>
          </a:p>
        </p:txBody>
      </p:sp>
    </p:spTree>
    <p:extLst>
      <p:ext uri="{BB962C8B-B14F-4D97-AF65-F5344CB8AC3E}">
        <p14:creationId xmlns:p14="http://schemas.microsoft.com/office/powerpoint/2010/main" val="1833476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41A45-7092-2A37-2A0B-CF7CF41FA4F1}"/>
              </a:ext>
            </a:extLst>
          </p:cNvPr>
          <p:cNvSpPr>
            <a:spLocks noGrp="1"/>
          </p:cNvSpPr>
          <p:nvPr>
            <p:ph type="title"/>
          </p:nvPr>
        </p:nvSpPr>
        <p:spPr/>
        <p:txBody>
          <a:bodyPr>
            <a:normAutofit fontScale="90000"/>
          </a:bodyPr>
          <a:lstStyle/>
          <a:p>
            <a:pPr lvl="0">
              <a:defRPr cap="all"/>
            </a:pPr>
            <a:r>
              <a:rPr lang="en-US" b="1" dirty="0"/>
              <a:t>Tools</a:t>
            </a:r>
            <a:br>
              <a:rPr lang="en-US" b="1" dirty="0"/>
            </a:br>
            <a:endParaRPr lang="en-IN" b="1" dirty="0"/>
          </a:p>
        </p:txBody>
      </p:sp>
      <p:sp>
        <p:nvSpPr>
          <p:cNvPr id="3" name="Content Placeholder 2">
            <a:extLst>
              <a:ext uri="{FF2B5EF4-FFF2-40B4-BE49-F238E27FC236}">
                <a16:creationId xmlns:a16="http://schemas.microsoft.com/office/drawing/2014/main" id="{AC728972-EDC6-F813-5ECE-AB737A9B060B}"/>
              </a:ext>
            </a:extLst>
          </p:cNvPr>
          <p:cNvSpPr>
            <a:spLocks noGrp="1"/>
          </p:cNvSpPr>
          <p:nvPr>
            <p:ph idx="1"/>
          </p:nvPr>
        </p:nvSpPr>
        <p:spPr/>
        <p:txBody>
          <a:bodyPr/>
          <a:lstStyle/>
          <a:p>
            <a:r>
              <a:rPr lang="en-US" dirty="0"/>
              <a:t>Tool: Cadence Virtuoso</a:t>
            </a:r>
          </a:p>
          <a:p>
            <a:r>
              <a:rPr lang="en-US" dirty="0"/>
              <a:t>Technology: 45nm</a:t>
            </a:r>
            <a:endParaRPr lang="en-IN" dirty="0"/>
          </a:p>
        </p:txBody>
      </p:sp>
    </p:spTree>
    <p:extLst>
      <p:ext uri="{BB962C8B-B14F-4D97-AF65-F5344CB8AC3E}">
        <p14:creationId xmlns:p14="http://schemas.microsoft.com/office/powerpoint/2010/main" val="14296555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D361B-1675-BCC5-D602-0EF539553D5A}"/>
              </a:ext>
            </a:extLst>
          </p:cNvPr>
          <p:cNvSpPr>
            <a:spLocks noGrp="1"/>
          </p:cNvSpPr>
          <p:nvPr>
            <p:ph type="title"/>
          </p:nvPr>
        </p:nvSpPr>
        <p:spPr/>
        <p:txBody>
          <a:bodyPr>
            <a:normAutofit fontScale="90000"/>
          </a:bodyPr>
          <a:lstStyle/>
          <a:p>
            <a:r>
              <a:rPr lang="en-US" dirty="0"/>
              <a:t>Results</a:t>
            </a:r>
            <a:br>
              <a:rPr lang="en-US" dirty="0"/>
            </a:br>
            <a:endParaRPr lang="en-IN" dirty="0"/>
          </a:p>
        </p:txBody>
      </p:sp>
      <p:pic>
        <p:nvPicPr>
          <p:cNvPr id="4" name="Picture 3">
            <a:extLst>
              <a:ext uri="{FF2B5EF4-FFF2-40B4-BE49-F238E27FC236}">
                <a16:creationId xmlns:a16="http://schemas.microsoft.com/office/drawing/2014/main" id="{97162FC3-6340-57BA-3781-F428FCDC1F8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51652" y="1959665"/>
            <a:ext cx="6457094" cy="3124201"/>
          </a:xfrm>
          <a:prstGeom prst="rect">
            <a:avLst/>
          </a:prstGeom>
          <a:noFill/>
          <a:ln>
            <a:noFill/>
          </a:ln>
        </p:spPr>
      </p:pic>
      <p:sp>
        <p:nvSpPr>
          <p:cNvPr id="6" name="TextBox 5">
            <a:extLst>
              <a:ext uri="{FF2B5EF4-FFF2-40B4-BE49-F238E27FC236}">
                <a16:creationId xmlns:a16="http://schemas.microsoft.com/office/drawing/2014/main" id="{DB4DE854-DF71-1E84-877F-B1154D258B56}"/>
              </a:ext>
            </a:extLst>
          </p:cNvPr>
          <p:cNvSpPr txBox="1"/>
          <p:nvPr/>
        </p:nvSpPr>
        <p:spPr>
          <a:xfrm>
            <a:off x="3366052" y="5643919"/>
            <a:ext cx="6096000" cy="374077"/>
          </a:xfrm>
          <a:prstGeom prst="rect">
            <a:avLst/>
          </a:prstGeom>
          <a:noFill/>
        </p:spPr>
        <p:txBody>
          <a:bodyPr wrap="square">
            <a:spAutoFit/>
          </a:bodyPr>
          <a:lstStyle/>
          <a:p>
            <a:pPr marL="365760" marR="548640">
              <a:lnSpc>
                <a:spcPct val="107000"/>
              </a:lnSpc>
              <a:spcBef>
                <a:spcPts val="80"/>
              </a:spcBef>
              <a:spcAft>
                <a:spcPts val="1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Approximate 4 bit adder</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587137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D5A05-A810-EC55-D63E-5C24A4E158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5EF399-33DA-AD55-8E7D-4CEC57FF192B}"/>
              </a:ext>
            </a:extLst>
          </p:cNvPr>
          <p:cNvSpPr>
            <a:spLocks noGrp="1"/>
          </p:cNvSpPr>
          <p:nvPr>
            <p:ph type="title"/>
          </p:nvPr>
        </p:nvSpPr>
        <p:spPr/>
        <p:txBody>
          <a:bodyPr>
            <a:normAutofit fontScale="90000"/>
          </a:bodyPr>
          <a:lstStyle/>
          <a:p>
            <a:r>
              <a:rPr lang="en-US" dirty="0"/>
              <a:t>Results</a:t>
            </a:r>
            <a:br>
              <a:rPr lang="en-US" dirty="0"/>
            </a:br>
            <a:endParaRPr lang="en-IN" dirty="0"/>
          </a:p>
        </p:txBody>
      </p:sp>
      <p:pic>
        <p:nvPicPr>
          <p:cNvPr id="4" name="Picture 3">
            <a:extLst>
              <a:ext uri="{FF2B5EF4-FFF2-40B4-BE49-F238E27FC236}">
                <a16:creationId xmlns:a16="http://schemas.microsoft.com/office/drawing/2014/main" id="{AA853392-9B67-24EA-B57F-B0546204B6E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87826" y="1866899"/>
            <a:ext cx="8229600" cy="4083327"/>
          </a:xfrm>
          <a:prstGeom prst="rect">
            <a:avLst/>
          </a:prstGeom>
          <a:noFill/>
          <a:ln>
            <a:noFill/>
          </a:ln>
        </p:spPr>
      </p:pic>
      <p:sp>
        <p:nvSpPr>
          <p:cNvPr id="6" name="TextBox 5">
            <a:extLst>
              <a:ext uri="{FF2B5EF4-FFF2-40B4-BE49-F238E27FC236}">
                <a16:creationId xmlns:a16="http://schemas.microsoft.com/office/drawing/2014/main" id="{5ADE4474-3079-CA04-2E42-92D72D35B9FF}"/>
              </a:ext>
            </a:extLst>
          </p:cNvPr>
          <p:cNvSpPr txBox="1"/>
          <p:nvPr/>
        </p:nvSpPr>
        <p:spPr>
          <a:xfrm>
            <a:off x="3710609" y="6061361"/>
            <a:ext cx="6096000" cy="374077"/>
          </a:xfrm>
          <a:prstGeom prst="rect">
            <a:avLst/>
          </a:prstGeom>
          <a:noFill/>
        </p:spPr>
        <p:txBody>
          <a:bodyPr wrap="square">
            <a:spAutoFit/>
          </a:bodyPr>
          <a:lstStyle/>
          <a:p>
            <a:pPr marL="365760" marR="548640">
              <a:lnSpc>
                <a:spcPct val="107000"/>
              </a:lnSpc>
              <a:spcBef>
                <a:spcPts val="80"/>
              </a:spcBef>
              <a:spcAft>
                <a:spcPts val="1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Waveform of Approximate full adder 4 bit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894132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CD5D2-6C78-E409-55A6-B1E71ABDB6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80C47D-5CB6-AA41-41F8-C6749586A25E}"/>
              </a:ext>
            </a:extLst>
          </p:cNvPr>
          <p:cNvSpPr>
            <a:spLocks noGrp="1"/>
          </p:cNvSpPr>
          <p:nvPr>
            <p:ph type="title"/>
          </p:nvPr>
        </p:nvSpPr>
        <p:spPr/>
        <p:txBody>
          <a:bodyPr>
            <a:normAutofit/>
          </a:bodyPr>
          <a:lstStyle/>
          <a:p>
            <a:r>
              <a:rPr lang="en-US" b="1" dirty="0"/>
              <a:t>Comparison Table</a:t>
            </a:r>
            <a:endParaRPr lang="en-IN" b="1" dirty="0"/>
          </a:p>
        </p:txBody>
      </p:sp>
      <p:graphicFrame>
        <p:nvGraphicFramePr>
          <p:cNvPr id="4" name="Content Placeholder 3">
            <a:extLst>
              <a:ext uri="{FF2B5EF4-FFF2-40B4-BE49-F238E27FC236}">
                <a16:creationId xmlns:a16="http://schemas.microsoft.com/office/drawing/2014/main" id="{56C7DC08-1A63-E252-5D63-2FD442081825}"/>
              </a:ext>
            </a:extLst>
          </p:cNvPr>
          <p:cNvGraphicFramePr>
            <a:graphicFrameLocks noGrp="1"/>
          </p:cNvGraphicFramePr>
          <p:nvPr>
            <p:ph idx="1"/>
            <p:extLst>
              <p:ext uri="{D42A27DB-BD31-4B8C-83A1-F6EECF244321}">
                <p14:modId xmlns:p14="http://schemas.microsoft.com/office/powerpoint/2010/main" val="2430377070"/>
              </p:ext>
            </p:extLst>
          </p:nvPr>
        </p:nvGraphicFramePr>
        <p:xfrm>
          <a:off x="914400" y="2076450"/>
          <a:ext cx="10787271" cy="2643378"/>
        </p:xfrm>
        <a:graphic>
          <a:graphicData uri="http://schemas.openxmlformats.org/drawingml/2006/table">
            <a:tbl>
              <a:tblPr firstRow="1" bandRow="1">
                <a:tableStyleId>{5C22544A-7EE6-4342-B048-85BDC9FD1C3A}</a:tableStyleId>
              </a:tblPr>
              <a:tblGrid>
                <a:gridCol w="2531165">
                  <a:extLst>
                    <a:ext uri="{9D8B030D-6E8A-4147-A177-3AD203B41FA5}">
                      <a16:colId xmlns:a16="http://schemas.microsoft.com/office/drawing/2014/main" val="80397362"/>
                    </a:ext>
                  </a:extLst>
                </a:gridCol>
                <a:gridCol w="1749287">
                  <a:extLst>
                    <a:ext uri="{9D8B030D-6E8A-4147-A177-3AD203B41FA5}">
                      <a16:colId xmlns:a16="http://schemas.microsoft.com/office/drawing/2014/main" val="2309079464"/>
                    </a:ext>
                  </a:extLst>
                </a:gridCol>
                <a:gridCol w="2769705">
                  <a:extLst>
                    <a:ext uri="{9D8B030D-6E8A-4147-A177-3AD203B41FA5}">
                      <a16:colId xmlns:a16="http://schemas.microsoft.com/office/drawing/2014/main" val="2678479091"/>
                    </a:ext>
                  </a:extLst>
                </a:gridCol>
                <a:gridCol w="1948069">
                  <a:extLst>
                    <a:ext uri="{9D8B030D-6E8A-4147-A177-3AD203B41FA5}">
                      <a16:colId xmlns:a16="http://schemas.microsoft.com/office/drawing/2014/main" val="1551283810"/>
                    </a:ext>
                  </a:extLst>
                </a:gridCol>
                <a:gridCol w="1789045">
                  <a:extLst>
                    <a:ext uri="{9D8B030D-6E8A-4147-A177-3AD203B41FA5}">
                      <a16:colId xmlns:a16="http://schemas.microsoft.com/office/drawing/2014/main" val="4240566782"/>
                    </a:ext>
                  </a:extLst>
                </a:gridCol>
              </a:tblGrid>
              <a:tr h="370840">
                <a:tc>
                  <a:txBody>
                    <a:bodyPr/>
                    <a:lstStyle/>
                    <a:p>
                      <a:pPr marL="457200" marR="548640" algn="ctr">
                        <a:lnSpc>
                          <a:spcPct val="107000"/>
                        </a:lnSpc>
                        <a:spcBef>
                          <a:spcPts val="80"/>
                        </a:spcBef>
                        <a:spcAft>
                          <a:spcPts val="100"/>
                        </a:spcAft>
                        <a:buNone/>
                      </a:pPr>
                      <a:r>
                        <a:rPr lang="en-IN" sz="28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rPr>
                        <a:t> </a:t>
                      </a:r>
                      <a:endParaRPr lang="en-IN" sz="24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548640">
                        <a:lnSpc>
                          <a:spcPct val="107000"/>
                        </a:lnSpc>
                        <a:spcBef>
                          <a:spcPts val="80"/>
                        </a:spcBef>
                        <a:spcAft>
                          <a:spcPts val="100"/>
                        </a:spcAft>
                        <a:buNone/>
                      </a:pPr>
                      <a:r>
                        <a:rPr lang="en-IN" sz="28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rPr>
                        <a:t>Mos count</a:t>
                      </a:r>
                      <a:endParaRPr lang="en-IN" sz="24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548640">
                        <a:lnSpc>
                          <a:spcPct val="107000"/>
                        </a:lnSpc>
                        <a:spcBef>
                          <a:spcPts val="80"/>
                        </a:spcBef>
                        <a:spcAft>
                          <a:spcPts val="100"/>
                        </a:spcAft>
                        <a:buNone/>
                      </a:pPr>
                      <a:r>
                        <a:rPr lang="en-IN" sz="28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rPr>
                        <a:t>Power consumption (nW)</a:t>
                      </a:r>
                      <a:endParaRPr lang="en-IN" sz="24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548640">
                        <a:lnSpc>
                          <a:spcPct val="107000"/>
                        </a:lnSpc>
                        <a:spcBef>
                          <a:spcPts val="80"/>
                        </a:spcBef>
                        <a:spcAft>
                          <a:spcPts val="100"/>
                        </a:spcAft>
                        <a:buNone/>
                      </a:pPr>
                      <a:r>
                        <a:rPr lang="en-IN" sz="28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rPr>
                        <a:t>Delay (ns)</a:t>
                      </a:r>
                      <a:endParaRPr lang="en-IN" sz="24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548640">
                        <a:lnSpc>
                          <a:spcPct val="107000"/>
                        </a:lnSpc>
                        <a:spcBef>
                          <a:spcPts val="80"/>
                        </a:spcBef>
                        <a:spcAft>
                          <a:spcPts val="100"/>
                        </a:spcAft>
                        <a:buNone/>
                      </a:pPr>
                      <a:r>
                        <a:rPr lang="en-IN" sz="28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rPr>
                        <a:t>PDP (aj)</a:t>
                      </a:r>
                      <a:endParaRPr lang="en-IN" sz="24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7763963"/>
                  </a:ext>
                </a:extLst>
              </a:tr>
              <a:tr h="370840">
                <a:tc>
                  <a:txBody>
                    <a:bodyPr/>
                    <a:lstStyle/>
                    <a:p>
                      <a:pPr marL="0" marR="548640">
                        <a:lnSpc>
                          <a:spcPct val="107000"/>
                        </a:lnSpc>
                        <a:spcBef>
                          <a:spcPts val="80"/>
                        </a:spcBef>
                        <a:spcAft>
                          <a:spcPts val="100"/>
                        </a:spcAft>
                        <a:buNone/>
                      </a:pPr>
                      <a:r>
                        <a:rPr lang="en-IN" sz="28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rPr>
                        <a:t>Appr_adder</a:t>
                      </a:r>
                      <a:endParaRPr lang="en-IN" sz="24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548640">
                        <a:lnSpc>
                          <a:spcPct val="107000"/>
                        </a:lnSpc>
                        <a:spcBef>
                          <a:spcPts val="80"/>
                        </a:spcBef>
                        <a:spcAft>
                          <a:spcPts val="100"/>
                        </a:spcAft>
                        <a:buNone/>
                      </a:pPr>
                      <a:r>
                        <a:rPr lang="en-IN" sz="28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rPr>
                        <a:t>136</a:t>
                      </a:r>
                      <a:endParaRPr lang="en-IN" sz="24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548640">
                        <a:lnSpc>
                          <a:spcPct val="107000"/>
                        </a:lnSpc>
                        <a:spcBef>
                          <a:spcPts val="80"/>
                        </a:spcBef>
                        <a:spcAft>
                          <a:spcPts val="100"/>
                        </a:spcAft>
                        <a:buNone/>
                      </a:pPr>
                      <a:r>
                        <a:rPr lang="en-IN" sz="28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rPr>
                        <a:t>480</a:t>
                      </a:r>
                      <a:endParaRPr lang="en-IN" sz="24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548640">
                        <a:lnSpc>
                          <a:spcPct val="107000"/>
                        </a:lnSpc>
                        <a:spcBef>
                          <a:spcPts val="80"/>
                        </a:spcBef>
                        <a:spcAft>
                          <a:spcPts val="100"/>
                        </a:spcAft>
                        <a:buNone/>
                      </a:pPr>
                      <a:r>
                        <a:rPr lang="en-IN" sz="28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rPr>
                        <a:t>0.1</a:t>
                      </a:r>
                      <a:endParaRPr lang="en-IN" sz="24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548640">
                        <a:lnSpc>
                          <a:spcPct val="107000"/>
                        </a:lnSpc>
                        <a:spcBef>
                          <a:spcPts val="80"/>
                        </a:spcBef>
                        <a:spcAft>
                          <a:spcPts val="100"/>
                        </a:spcAft>
                        <a:buNone/>
                      </a:pPr>
                      <a:r>
                        <a:rPr lang="en-IN" sz="28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rPr>
                        <a:t>48</a:t>
                      </a:r>
                      <a:endParaRPr lang="en-IN" sz="24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93019195"/>
                  </a:ext>
                </a:extLst>
              </a:tr>
              <a:tr h="370840">
                <a:tc>
                  <a:txBody>
                    <a:bodyPr/>
                    <a:lstStyle/>
                    <a:p>
                      <a:pPr marL="0" marR="548640">
                        <a:lnSpc>
                          <a:spcPct val="107000"/>
                        </a:lnSpc>
                        <a:spcBef>
                          <a:spcPts val="80"/>
                        </a:spcBef>
                        <a:spcAft>
                          <a:spcPts val="100"/>
                        </a:spcAft>
                        <a:buNone/>
                      </a:pPr>
                      <a:r>
                        <a:rPr lang="en-IN" sz="28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rPr>
                        <a:t>RCA</a:t>
                      </a:r>
                      <a:endParaRPr lang="en-IN" sz="24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548640">
                        <a:lnSpc>
                          <a:spcPct val="107000"/>
                        </a:lnSpc>
                        <a:spcBef>
                          <a:spcPts val="80"/>
                        </a:spcBef>
                        <a:spcAft>
                          <a:spcPts val="100"/>
                        </a:spcAft>
                        <a:buNone/>
                      </a:pPr>
                      <a:r>
                        <a:rPr lang="en-IN" sz="28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rPr>
                        <a:t>112</a:t>
                      </a:r>
                      <a:endParaRPr lang="en-IN" sz="24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548640">
                        <a:lnSpc>
                          <a:spcPct val="107000"/>
                        </a:lnSpc>
                        <a:spcBef>
                          <a:spcPts val="80"/>
                        </a:spcBef>
                        <a:spcAft>
                          <a:spcPts val="100"/>
                        </a:spcAft>
                        <a:buNone/>
                      </a:pPr>
                      <a:r>
                        <a:rPr lang="en-IN" sz="28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rPr>
                        <a:t>867</a:t>
                      </a:r>
                      <a:endParaRPr lang="en-IN" sz="24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548640">
                        <a:lnSpc>
                          <a:spcPct val="107000"/>
                        </a:lnSpc>
                        <a:spcBef>
                          <a:spcPts val="80"/>
                        </a:spcBef>
                        <a:spcAft>
                          <a:spcPts val="100"/>
                        </a:spcAft>
                        <a:buNone/>
                      </a:pPr>
                      <a:r>
                        <a:rPr lang="en-IN" sz="28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rPr>
                        <a:t>25</a:t>
                      </a:r>
                      <a:endParaRPr lang="en-IN" sz="24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548640">
                        <a:lnSpc>
                          <a:spcPct val="107000"/>
                        </a:lnSpc>
                        <a:spcBef>
                          <a:spcPts val="80"/>
                        </a:spcBef>
                        <a:spcAft>
                          <a:spcPts val="100"/>
                        </a:spcAft>
                        <a:buNone/>
                      </a:pPr>
                      <a:r>
                        <a:rPr lang="en-IN" sz="28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rPr>
                        <a:t>21675</a:t>
                      </a:r>
                      <a:endParaRPr lang="en-IN" sz="24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54467492"/>
                  </a:ext>
                </a:extLst>
              </a:tr>
              <a:tr h="370840">
                <a:tc>
                  <a:txBody>
                    <a:bodyPr/>
                    <a:lstStyle/>
                    <a:p>
                      <a:pPr marL="0" marR="548640">
                        <a:lnSpc>
                          <a:spcPct val="107000"/>
                        </a:lnSpc>
                        <a:spcBef>
                          <a:spcPts val="80"/>
                        </a:spcBef>
                        <a:spcAft>
                          <a:spcPts val="100"/>
                        </a:spcAft>
                        <a:buNone/>
                      </a:pPr>
                      <a:r>
                        <a:rPr lang="en-IN" sz="28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rPr>
                        <a:t>CLA</a:t>
                      </a:r>
                      <a:endParaRPr lang="en-IN" sz="24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548640">
                        <a:lnSpc>
                          <a:spcPct val="107000"/>
                        </a:lnSpc>
                        <a:spcBef>
                          <a:spcPts val="80"/>
                        </a:spcBef>
                        <a:spcAft>
                          <a:spcPts val="100"/>
                        </a:spcAft>
                        <a:buNone/>
                      </a:pPr>
                      <a:r>
                        <a:rPr lang="en-IN" sz="28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rPr>
                        <a:t>184</a:t>
                      </a:r>
                      <a:endParaRPr lang="en-IN" sz="24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548640">
                        <a:lnSpc>
                          <a:spcPct val="107000"/>
                        </a:lnSpc>
                        <a:spcBef>
                          <a:spcPts val="80"/>
                        </a:spcBef>
                        <a:spcAft>
                          <a:spcPts val="100"/>
                        </a:spcAft>
                        <a:buNone/>
                      </a:pPr>
                      <a:r>
                        <a:rPr lang="en-IN" sz="28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rPr>
                        <a:t>1191</a:t>
                      </a:r>
                      <a:endParaRPr lang="en-IN" sz="24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548640">
                        <a:lnSpc>
                          <a:spcPct val="107000"/>
                        </a:lnSpc>
                        <a:spcBef>
                          <a:spcPts val="80"/>
                        </a:spcBef>
                        <a:spcAft>
                          <a:spcPts val="100"/>
                        </a:spcAft>
                        <a:buNone/>
                      </a:pPr>
                      <a:r>
                        <a:rPr lang="en-IN" sz="28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rPr>
                        <a:t>9</a:t>
                      </a:r>
                      <a:endParaRPr lang="en-IN" sz="2400" b="1" kern="10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548640">
                        <a:lnSpc>
                          <a:spcPct val="107000"/>
                        </a:lnSpc>
                        <a:spcBef>
                          <a:spcPts val="80"/>
                        </a:spcBef>
                        <a:spcAft>
                          <a:spcPts val="100"/>
                        </a:spcAft>
                        <a:buNone/>
                      </a:pPr>
                      <a:r>
                        <a:rPr lang="en-IN" sz="2800" b="1" kern="100" dirty="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rPr>
                        <a:t>10719</a:t>
                      </a:r>
                      <a:endParaRPr lang="en-IN" sz="2400" b="1" kern="100" dirty="0">
                        <a:effectLst>
                          <a:outerShdw blurRad="38100" dist="38100" dir="2700000" algn="tl">
                            <a:srgbClr val="000000">
                              <a:alpha val="43137"/>
                            </a:srgbClr>
                          </a:outerShdw>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6149810"/>
                  </a:ext>
                </a:extLst>
              </a:tr>
            </a:tbl>
          </a:graphicData>
        </a:graphic>
      </p:graphicFrame>
    </p:spTree>
    <p:extLst>
      <p:ext uri="{BB962C8B-B14F-4D97-AF65-F5344CB8AC3E}">
        <p14:creationId xmlns:p14="http://schemas.microsoft.com/office/powerpoint/2010/main" val="22959799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2434A-B036-D5A7-6CB9-B85E5DBB4E5B}"/>
              </a:ext>
            </a:extLst>
          </p:cNvPr>
          <p:cNvSpPr>
            <a:spLocks noGrp="1"/>
          </p:cNvSpPr>
          <p:nvPr>
            <p:ph type="title"/>
          </p:nvPr>
        </p:nvSpPr>
        <p:spPr/>
        <p:txBody>
          <a:bodyPr>
            <a:normAutofit fontScale="90000"/>
          </a:bodyPr>
          <a:lstStyle/>
          <a:p>
            <a:r>
              <a:rPr lang="en-US" b="1" dirty="0"/>
              <a:t>Conclusion</a:t>
            </a:r>
            <a:br>
              <a:rPr lang="en-US" b="1" dirty="0"/>
            </a:br>
            <a:endParaRPr lang="en-IN" b="1" dirty="0"/>
          </a:p>
        </p:txBody>
      </p:sp>
      <p:sp>
        <p:nvSpPr>
          <p:cNvPr id="3" name="Content Placeholder 2">
            <a:extLst>
              <a:ext uri="{FF2B5EF4-FFF2-40B4-BE49-F238E27FC236}">
                <a16:creationId xmlns:a16="http://schemas.microsoft.com/office/drawing/2014/main" id="{FF79D6C2-959C-B770-BA2F-234498CAB64E}"/>
              </a:ext>
            </a:extLst>
          </p:cNvPr>
          <p:cNvSpPr>
            <a:spLocks noGrp="1"/>
          </p:cNvSpPr>
          <p:nvPr>
            <p:ph idx="1"/>
          </p:nvPr>
        </p:nvSpPr>
        <p:spPr/>
        <p:txBody>
          <a:bodyPr>
            <a:normAutofit/>
          </a:bodyPr>
          <a:lstStyle/>
          <a:p>
            <a:pPr marL="36900" indent="0">
              <a:buNone/>
            </a:pPr>
            <a:r>
              <a:rPr lang="en-US" dirty="0"/>
              <a:t>The comparative analysis shows that the approximate adder outperforms RCA and CLA in speed and energy efficiency. It achieves very low delay (0.1 ns) and reduced power consumption (480 </a:t>
            </a:r>
            <a:r>
              <a:rPr lang="en-US" dirty="0" err="1"/>
              <a:t>nW</a:t>
            </a:r>
            <a:r>
              <a:rPr lang="en-US" dirty="0"/>
              <a:t>), making it suitable for high-speed, low-power applications. Although its MOS count is slightly higher than RCA, it remains lower than CLA, ensuring balanced complexity. The PDP (48 </a:t>
            </a:r>
            <a:r>
              <a:rPr lang="en-US" dirty="0" err="1"/>
              <a:t>aJ</a:t>
            </a:r>
            <a:r>
              <a:rPr lang="en-US" dirty="0"/>
              <a:t>) is significantly lower than both RCA and CLA, confirming superior performance. Hence, the approximate adder offers an effective trade-off between accuracy, speed, and power, making it ideal for error-tolerant applications like AI, multimedia, and image processing.</a:t>
            </a:r>
            <a:endParaRPr lang="en-IN" dirty="0"/>
          </a:p>
        </p:txBody>
      </p:sp>
    </p:spTree>
    <p:extLst>
      <p:ext uri="{BB962C8B-B14F-4D97-AF65-F5344CB8AC3E}">
        <p14:creationId xmlns:p14="http://schemas.microsoft.com/office/powerpoint/2010/main" val="3817472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B211D-5D86-7505-3553-3EB348BF63BE}"/>
              </a:ext>
            </a:extLst>
          </p:cNvPr>
          <p:cNvSpPr>
            <a:spLocks noGrp="1"/>
          </p:cNvSpPr>
          <p:nvPr>
            <p:ph type="title"/>
          </p:nvPr>
        </p:nvSpPr>
        <p:spPr/>
        <p:txBody>
          <a:bodyPr/>
          <a:lstStyle/>
          <a:p>
            <a:r>
              <a:rPr lang="en-US" dirty="0"/>
              <a:t>References</a:t>
            </a:r>
            <a:endParaRPr lang="en-IN" dirty="0"/>
          </a:p>
        </p:txBody>
      </p:sp>
      <p:sp>
        <p:nvSpPr>
          <p:cNvPr id="3" name="Content Placeholder 2">
            <a:extLst>
              <a:ext uri="{FF2B5EF4-FFF2-40B4-BE49-F238E27FC236}">
                <a16:creationId xmlns:a16="http://schemas.microsoft.com/office/drawing/2014/main" id="{F54AA33F-D21E-61CE-1FE9-63C266319930}"/>
              </a:ext>
            </a:extLst>
          </p:cNvPr>
          <p:cNvSpPr>
            <a:spLocks noGrp="1"/>
          </p:cNvSpPr>
          <p:nvPr>
            <p:ph idx="1"/>
          </p:nvPr>
        </p:nvSpPr>
        <p:spPr/>
        <p:txBody>
          <a:bodyPr>
            <a:normAutofit fontScale="92500" lnSpcReduction="10000"/>
          </a:bodyPr>
          <a:lstStyle/>
          <a:p>
            <a:r>
              <a:rPr lang="en-IN" dirty="0">
                <a:effectLst/>
              </a:rPr>
              <a:t> V. V. Joshi and P. Mane, “Design and Analysis of Approximate Arithmetic Circuits for Error-Resilient Applications,” </a:t>
            </a:r>
            <a:r>
              <a:rPr lang="en-IN" i="1" dirty="0">
                <a:effectLst/>
              </a:rPr>
              <a:t>International Journal of Intelligent Systems and Applications in Engineering</a:t>
            </a:r>
            <a:r>
              <a:rPr lang="en-IN" dirty="0">
                <a:effectLst/>
              </a:rPr>
              <a:t>, vol. 12, no. 4, pp. 1–10, 2024.</a:t>
            </a:r>
          </a:p>
          <a:p>
            <a:r>
              <a:rPr lang="en-IN" dirty="0">
                <a:effectLst/>
              </a:rPr>
              <a:t> A. Mohammadi, et al., “Design of High-Speed and Low-Energy Approximate Full Adder Using CNFET Technology,” </a:t>
            </a:r>
            <a:r>
              <a:rPr lang="en-IN" i="1" dirty="0">
                <a:effectLst/>
              </a:rPr>
              <a:t>Microelectronics Journal</a:t>
            </a:r>
            <a:r>
              <a:rPr lang="en-IN" dirty="0">
                <a:effectLst/>
              </a:rPr>
              <a:t>, vol. 123, pp. 105–112, 2022.</a:t>
            </a:r>
          </a:p>
          <a:p>
            <a:r>
              <a:rPr lang="en-IN" dirty="0">
                <a:effectLst/>
              </a:rPr>
              <a:t> B. Gaur, H. Thapliyal, and T. S. Humble, “Noise-Resilient Approximate Quantum Adders,” </a:t>
            </a:r>
            <a:r>
              <a:rPr lang="en-IN" i="1" dirty="0" err="1">
                <a:effectLst/>
              </a:rPr>
              <a:t>arXiv</a:t>
            </a:r>
            <a:r>
              <a:rPr lang="en-IN" i="1" dirty="0">
                <a:effectLst/>
              </a:rPr>
              <a:t> preprint arXiv:2408.00927</a:t>
            </a:r>
            <a:r>
              <a:rPr lang="en-IN" dirty="0">
                <a:effectLst/>
              </a:rPr>
              <a:t>, 2024.</a:t>
            </a:r>
          </a:p>
          <a:p>
            <a:r>
              <a:rPr lang="en-IN" dirty="0">
                <a:effectLst/>
              </a:rPr>
              <a:t> M. Qiu, et al., “IMPLY-Based Approximate Adders for In-Memory Computing,” </a:t>
            </a:r>
            <a:r>
              <a:rPr lang="en-IN" i="1" dirty="0" err="1">
                <a:effectLst/>
              </a:rPr>
              <a:t>arXiv</a:t>
            </a:r>
            <a:r>
              <a:rPr lang="en-IN" i="1" dirty="0">
                <a:effectLst/>
              </a:rPr>
              <a:t> preprint arXiv:2412.15888</a:t>
            </a:r>
            <a:r>
              <a:rPr lang="en-IN" dirty="0">
                <a:effectLst/>
              </a:rPr>
              <a:t>, 2024.</a:t>
            </a:r>
          </a:p>
          <a:p>
            <a:endParaRPr lang="en-IN" dirty="0"/>
          </a:p>
        </p:txBody>
      </p:sp>
    </p:spTree>
    <p:extLst>
      <p:ext uri="{BB962C8B-B14F-4D97-AF65-F5344CB8AC3E}">
        <p14:creationId xmlns:p14="http://schemas.microsoft.com/office/powerpoint/2010/main" val="357661305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offee">
      <a:dk1>
        <a:sysClr val="windowText" lastClr="000000"/>
      </a:dk1>
      <a:lt1>
        <a:sysClr val="window" lastClr="FFFFFF"/>
      </a:lt1>
      <a:dk2>
        <a:srgbClr val="4E3B30"/>
      </a:dk2>
      <a:lt2>
        <a:srgbClr val="F4EEDC"/>
      </a:lt2>
      <a:accent1>
        <a:srgbClr val="CC830E"/>
      </a:accent1>
      <a:accent2>
        <a:srgbClr val="B54C2D"/>
      </a:accent2>
      <a:accent3>
        <a:srgbClr val="99570C"/>
      </a:accent3>
      <a:accent4>
        <a:srgbClr val="C17529"/>
      </a:accent4>
      <a:accent5>
        <a:srgbClr val="A19574"/>
      </a:accent5>
      <a:accent6>
        <a:srgbClr val="A49518"/>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THREE.pptx" id="{E781C72B-3D65-4B8D-9071-33B66AF0EF30}" vid="{3A5A58F2-9BE1-435C-B12D-88FD9BF70179}"/>
    </a:ext>
  </a:extLst>
</a:theme>
</file>

<file path=docProps/app.xml><?xml version="1.0" encoding="utf-8"?>
<Properties xmlns="http://schemas.openxmlformats.org/officeDocument/2006/extended-properties" xmlns:vt="http://schemas.openxmlformats.org/officeDocument/2006/docPropsVTypes">
  <Template>{8FC1B60F-2049-4360-B680-EE8106C152EC}TFe887d8cf-77a9-48cd-9a74-d8d08097a61c3993dec7_win32-329aa78f548b</Template>
  <TotalTime>125</TotalTime>
  <Words>1554</Words>
  <Application>Microsoft Office PowerPoint</Application>
  <PresentationFormat>Widescreen</PresentationFormat>
  <Paragraphs>101</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Goudy Old Style</vt:lpstr>
      <vt:lpstr>Times New Roman</vt:lpstr>
      <vt:lpstr>Wingdings</vt:lpstr>
      <vt:lpstr>Wingdings 2</vt:lpstr>
      <vt:lpstr>SlateVTI</vt:lpstr>
      <vt:lpstr>  DESIGN AND IMPLEMENTATION OF APPROXIMATE ADDER FOR ERROR TOLERANT APPLICATIONS</vt:lpstr>
      <vt:lpstr>Contents</vt:lpstr>
      <vt:lpstr>Objective  </vt:lpstr>
      <vt:lpstr>Applications </vt:lpstr>
      <vt:lpstr>Abstract</vt:lpstr>
      <vt:lpstr>Introduction </vt:lpstr>
      <vt:lpstr>Introduction </vt:lpstr>
      <vt:lpstr>Literature review</vt:lpstr>
      <vt:lpstr>Literature review</vt:lpstr>
      <vt:lpstr>Literature review</vt:lpstr>
      <vt:lpstr>Literature review</vt:lpstr>
      <vt:lpstr>Existing method </vt:lpstr>
      <vt:lpstr>Existing method </vt:lpstr>
      <vt:lpstr>Drawbacks </vt:lpstr>
      <vt:lpstr>Proposed method  </vt:lpstr>
      <vt:lpstr>Advantages</vt:lpstr>
      <vt:lpstr>Tools </vt:lpstr>
      <vt:lpstr>Results </vt:lpstr>
      <vt:lpstr>Results </vt:lpstr>
      <vt:lpstr>Comparison Table</vt:lpstr>
      <vt:lpstr>Conclusion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Vijaya Rani Kommukuri</dc:creator>
  <cp:lastModifiedBy>Vijaya Rani Kommukuri</cp:lastModifiedBy>
  <cp:revision>23</cp:revision>
  <dcterms:created xsi:type="dcterms:W3CDTF">2026-04-18T10:51:43Z</dcterms:created>
  <dcterms:modified xsi:type="dcterms:W3CDTF">2026-04-18T12:57:15Z</dcterms:modified>
</cp:coreProperties>
</file>